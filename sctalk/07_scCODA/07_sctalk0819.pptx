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92" r:id="rId5"/>
    <p:sldId id="283" r:id="rId6"/>
    <p:sldId id="282" r:id="rId7"/>
    <p:sldId id="289" r:id="rId8"/>
    <p:sldId id="291" r:id="rId9"/>
    <p:sldId id="290" r:id="rId10"/>
    <p:sldId id="293" r:id="rId11"/>
    <p:sldId id="295" r:id="rId12"/>
    <p:sldId id="296" r:id="rId13"/>
    <p:sldId id="297" r:id="rId14"/>
    <p:sldId id="298" r:id="rId15"/>
    <p:sldId id="299" r:id="rId16"/>
    <p:sldId id="294" r:id="rId17"/>
    <p:sldId id="286" r:id="rId18"/>
    <p:sldId id="285" r:id="rId19"/>
    <p:sldId id="284" r:id="rId2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57"/>
    <p:restoredTop sz="87534"/>
  </p:normalViewPr>
  <p:slideViewPr>
    <p:cSldViewPr snapToGrid="0">
      <p:cViewPr varScale="1">
        <p:scale>
          <a:sx n="110" d="100"/>
          <a:sy n="110" d="100"/>
        </p:scale>
        <p:origin x="832" y="184"/>
      </p:cViewPr>
      <p:guideLst/>
    </p:cSldViewPr>
  </p:slideViewPr>
  <p:outlineViewPr>
    <p:cViewPr>
      <p:scale>
        <a:sx n="33" d="100"/>
        <a:sy n="33" d="100"/>
      </p:scale>
      <p:origin x="0" y="-42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99340-E231-2B69-4A1A-B22DD6EB0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1DA8DF-BF57-269C-FEE0-906D673BA2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901ADE-9DAC-C713-45C3-8AEF14DB06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E05E4-7B35-BF87-E0E3-E3EBB829337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865617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BED5A-5B57-EBB9-D615-ED8890360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DC6831-4094-AD7B-C4B9-768A54AD2B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0CE9DF-31FF-05A4-87C5-A89C852C7E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ED2DC5-A2F9-EB14-C8C9-2197406FE8D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670611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31F43-6D79-6ABD-224E-DD3E8EA0D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9D86A2-C00D-B79F-EF81-1EDC4A0E9B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C7644F-D4BE-4278-D2B1-24C7F188E1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FDC34-F15D-01EF-94FE-B02A51A5342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284080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E0E09-8E16-0620-EDC0-B00822E5C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A90182-9549-2872-7588-31D89165FB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CC4E0B-7ACF-F2E2-CB17-1CC4BDCE5F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34998-82B7-D856-A10E-6901A5A3867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471946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6629F-AFA2-51D9-B9E1-71224AFFC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997B76-8231-BD91-649A-42A5B4BEE8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2A012B-657D-9335-9ED6-C7F11F0FBA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5C037-5DAD-09FD-206A-0BAD444C0F6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308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C1B4A-3DD7-8A32-19C0-0E8FBA555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1043F2-36F2-9ACA-1AC2-37AB25DF25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C577C8-EF24-FE6A-F938-2EBF02FE44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71FC24-4874-E345-7D81-56755CC09A6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257630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890EF-1D4C-E86E-D30B-534022514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0096DB-C16E-26E5-28EA-DC4DE0F6D9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2978CA-B45C-F545-70A3-26BA557221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549C24-FED4-E017-52E3-47E12EA3205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215549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4FDB8-57A5-6B4B-B3AA-49DEE169C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DDFD13-F1A2-DF3F-323C-B8C369529F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9A351F-9EC9-680C-11F6-B958931026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4F4E7D-D293-9FBF-2B55-9F7110C7C43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61410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7BFFB-471D-37D2-A2BD-9EF834CB4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C322CF-4492-CC94-211B-BFA9C6EC18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4921B5-5838-03AD-6816-31465E3F23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05488A-C154-74A6-8251-96A2EBC04EB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71429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D66C9-7AD6-7A1A-F2EE-0E5396F2A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C3F2D9-7FFA-4CD0-ADDD-3A2DB24CB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E9D152-C844-64C3-463B-85C1F2C5B3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E7F457-A5B9-56CA-3B22-47E16061BFC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408292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96B6E-A41D-CB23-D291-5D2F6339B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B0D4DB-AD28-B9F3-1E5A-D58C753678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61F606-5721-0B7E-BEE6-039332A4C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A09227-CD37-3571-9B89-BDDCD382CBC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29940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86E65-5586-8DE3-7CE4-287959C8B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DBD920-3BC6-032C-2630-9E2F898CA1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53A95A-590A-79BE-02D2-4FC27A780B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Although, compositional bias is not only a statistical problem. </a:t>
            </a:r>
            <a:br>
              <a:rPr lang="en-US" sz="1200" dirty="0"/>
            </a:br>
            <a:r>
              <a:rPr lang="en-US" sz="1200" dirty="0"/>
              <a:t>The composition we observe is already shaped by how the sample was collected, processed, captured, and annotated.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CD8079-E471-BAE9-B307-F25D453C224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647560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C196B-3A66-8E5B-CE8B-32C40FB6F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6E569B-47DC-B4EE-D870-690B196702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351E30-79B3-AD2B-7F63-C6C15C39DC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E4503C-141F-1A5B-4860-A988335B71D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804457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8AA46-9866-54D9-AFB4-2D59B5ADF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15B3AA-3E9A-A357-8F31-F3524A687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525BE0-CBF1-D657-8287-C36146CD26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BE2265-1E83-4685-7D05-99BCAF63245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17449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UAB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buNone/>
              <a:defRPr sz="6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Title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pic>
        <p:nvPicPr>
          <p:cNvPr id="10" name="Graphic 8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96569" y="879431"/>
            <a:ext cx="4615489" cy="913959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Dragon's Lair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buNone/>
              <a:defRPr sz="6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Title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pic>
        <p:nvPicPr>
          <p:cNvPr id="10" name="Graphic 8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96569" y="879431"/>
            <a:ext cx="4615489" cy="913959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Monogram Pattern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04E2F12-739F-148B-7123-7B9F9DFCF078}"/>
              </a:ext>
            </a:extLst>
          </p:cNvPr>
          <p:cNvSpPr>
            <a:spLocks noGrp="1"/>
          </p:cNvSpPr>
          <p:nvPr/>
        </p:nvSpPr>
        <p:spPr>
          <a:xfrm>
            <a:off x="7048500" y="5772150"/>
            <a:ext cx="5143500" cy="1085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330456"/>
            <a:ext cx="9144000" cy="2387600"/>
          </a:xfrm>
        </p:spPr>
        <p:txBody>
          <a:bodyPr anchor="b"/>
          <a:lstStyle>
            <a:lvl1pPr algn="l">
              <a:buNone/>
              <a:defRPr sz="6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Title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3810131"/>
            <a:ext cx="9144000" cy="558639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pic>
        <p:nvPicPr>
          <p:cNvPr id="12" name="Graphic 8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2505" y="6099234"/>
            <a:ext cx="4615489" cy="913959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Badge - UAB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8" name="Graphic 8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96569" y="879431"/>
            <a:ext cx="4615489" cy="913959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buNone/>
              <a:defRPr sz="6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Title Slide - Badge</a:t>
            </a:r>
          </a:p>
        </p:txBody>
      </p:sp>
      <p:pic>
        <p:nvPicPr>
          <p:cNvPr id="11" name="Graphic 14"/>
          <p:cNvPicPr>
            <a:picLocks noChangeAspect="1"/>
          </p:cNvPicPr>
          <p:nvPr/>
        </p:nvPicPr>
        <p:blipFill>
          <a:blip r:embed="rId3">
            <a:alphaModFix amt="8000"/>
          </a:blip>
          <a:srcRect t="10829" b="10829"/>
          <a:stretch/>
        </p:blipFill>
        <p:spPr>
          <a:xfrm>
            <a:off x="3285377" y="0"/>
            <a:ext cx="9186843" cy="7197213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ad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80266990-FE93-48F7-AFFF-BA2D7639B9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615376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B2FC672-E957-FC5C-B431-007B5F5FB8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1999" y="1876586"/>
            <a:ext cx="9615377" cy="2387600"/>
          </a:xfrm>
        </p:spPr>
        <p:txBody>
          <a:bodyPr anchor="b"/>
          <a:lstStyle>
            <a:lvl1pPr algn="l">
              <a:buNone/>
              <a:defRPr sz="60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Title Slide – Badge - White</a:t>
            </a:r>
          </a:p>
        </p:txBody>
      </p:sp>
      <p:pic>
        <p:nvPicPr>
          <p:cNvPr id="6" name="Graphic 8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96569" y="845977"/>
            <a:ext cx="4615489" cy="484397"/>
          </a:xfrm>
          <a:prstGeom prst="rect">
            <a:avLst/>
          </a:prstGeom>
        </p:spPr>
      </p:pic>
      <p:pic>
        <p:nvPicPr>
          <p:cNvPr id="7" name="Graphic 10"/>
          <p:cNvPicPr>
            <a:picLocks noChangeAspect="1"/>
          </p:cNvPicPr>
          <p:nvPr/>
        </p:nvPicPr>
        <p:blipFill>
          <a:blip r:embed="rId3">
            <a:alphaModFix amt="6000"/>
          </a:blip>
          <a:srcRect t="10829" r="3050" b="14521"/>
          <a:stretch/>
        </p:blipFill>
        <p:spPr>
          <a:xfrm>
            <a:off x="3285375" y="0"/>
            <a:ext cx="890662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radient #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9EF6E62-8833-69A6-FF19-3B62920BC0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56000">
                <a:srgbClr val="0B3F22"/>
              </a:gs>
              <a:gs pos="100000">
                <a:schemeClr val="accent3"/>
              </a:gs>
              <a:gs pos="0">
                <a:schemeClr val="accent1"/>
              </a:gs>
            </a:gsLst>
            <a:lin ang="1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buNone/>
              <a:defRPr sz="6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Title Slide – Gradient #1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pic>
        <p:nvPicPr>
          <p:cNvPr id="12" name="Graphic 8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96569" y="879431"/>
            <a:ext cx="4615489" cy="91395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96A346-BC22-B60A-8007-0A3D4AFE1A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radient #1 with Gold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BAA40BA-E3E3-051E-9DC3-67DDF588C4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56000">
                <a:srgbClr val="0B3F22"/>
              </a:gs>
              <a:gs pos="100000">
                <a:schemeClr val="accent3"/>
              </a:gs>
              <a:gs pos="0">
                <a:schemeClr val="accent1"/>
              </a:gs>
            </a:gsLst>
            <a:lin ang="1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buNone/>
              <a:defRPr sz="6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Title Slide – Gradient #1 with Gold Bar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>
            <a:spLocks noGrp="1"/>
          </p:cNvSpPr>
          <p:nvPr/>
        </p:nvSpPr>
        <p:spPr>
          <a:xfrm>
            <a:off x="0" y="6588678"/>
            <a:ext cx="12192000" cy="269322"/>
          </a:xfrm>
          <a:prstGeom prst="rect">
            <a:avLst/>
          </a:prstGeom>
          <a:gradFill>
            <a:gsLst>
              <a:gs pos="69000">
                <a:schemeClr val="accent2"/>
              </a:gs>
              <a:gs pos="0">
                <a:schemeClr val="accent2">
                  <a:lumMod val="48000"/>
                  <a:lumOff val="52000"/>
                </a:schemeClr>
              </a:gs>
            </a:gsLst>
            <a:lin ang="1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2" name="Graphic 8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96569" y="879431"/>
            <a:ext cx="4615489" cy="913959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radient #2">
    <p:bg>
      <p:bgPr>
        <a:gradFill>
          <a:gsLst>
            <a:gs pos="6000">
              <a:schemeClr val="accent5"/>
            </a:gs>
            <a:gs pos="65000">
              <a:schemeClr val="accent1"/>
            </a:gs>
            <a:gs pos="100000">
              <a:schemeClr val="accent3"/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27C0CC0-C774-0848-A11D-83E3655401B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73000">
                <a:schemeClr val="accent1"/>
              </a:gs>
              <a:gs pos="98000">
                <a:schemeClr val="accent3"/>
              </a:gs>
              <a:gs pos="6000">
                <a:schemeClr val="accent5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A9DD234-377A-C202-A52D-BDBAD4FF13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buNone/>
              <a:defRPr sz="6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Title Slide – Gradient #2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7303A12-A6ED-C9F0-60E1-DE38BCFBD0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pic>
        <p:nvPicPr>
          <p:cNvPr id="11" name="Graphic 8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96569" y="879431"/>
            <a:ext cx="4615489" cy="913959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27C0CC0-C774-0848-A11D-83E3655401B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551" y="1893768"/>
            <a:ext cx="9149800" cy="3930960"/>
          </a:xfrm>
        </p:spPr>
        <p:txBody>
          <a:bodyPr/>
          <a:lstStyle>
            <a:lvl1pPr marL="457178" indent="-457178">
              <a:lnSpc>
                <a:spcPct val="100000"/>
              </a:lnSpc>
              <a:buAutoNum type="arabicPeriod"/>
              <a:defRPr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914354" indent="-457178">
              <a:lnSpc>
                <a:spcPct val="100000"/>
              </a:lnSpc>
              <a:buAutoNum type="arabicPeriod"/>
              <a:defRPr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2pPr>
            <a:lvl3pPr marL="1257238" indent="-342882">
              <a:lnSpc>
                <a:spcPct val="100000"/>
              </a:lnSpc>
              <a:buAutoNum type="arabicPeriod"/>
              <a:defRPr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3pPr>
            <a:lvl4pPr marL="1714414" indent="-342882">
              <a:lnSpc>
                <a:spcPct val="100000"/>
              </a:lnSpc>
              <a:buAutoNum type="arabicPeriod"/>
              <a:defRPr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4pPr>
            <a:lvl5pPr marL="2171592" indent="-342882">
              <a:lnSpc>
                <a:spcPct val="100000"/>
              </a:lnSpc>
              <a:buAutoNum type="arabicPeriod"/>
              <a:defRPr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553" y="927106"/>
            <a:ext cx="9149799" cy="45003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>
              <a:buNone/>
              <a:defRPr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Agenda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97447CC8-3308-42BF-8622-381B44B827C0}"/>
              </a:ext>
            </a:extLst>
          </p:cNvPr>
          <p:cNvSpPr>
            <a:spLocks noGrp="1"/>
          </p:cNvSpPr>
          <p:nvPr/>
        </p:nvSpPr>
        <p:spPr>
          <a:xfrm flipH="1">
            <a:off x="762552" y="1596096"/>
            <a:ext cx="1004341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14" name="Graphic 7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62551" y="6066372"/>
            <a:ext cx="2538210" cy="5026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utive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261" y="2730355"/>
            <a:ext cx="4621423" cy="3077488"/>
          </a:xfrm>
        </p:spPr>
        <p:txBody>
          <a:bodyPr/>
          <a:lstStyle>
            <a:lvl1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1pPr>
            <a:lvl2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2pPr>
            <a:lvl3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3pPr>
            <a:lvl4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4pPr>
            <a:lvl5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0" y="476722"/>
            <a:ext cx="10638053" cy="768545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>
            <a:lvl1pPr>
              <a:buNone/>
              <a:defRPr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Executive Summary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>
            <a:spLocks noGrp="1"/>
          </p:cNvSpPr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anchor="ctr"/>
          <a:lstStyle>
            <a:lvl1pPr algn="l">
              <a:buNone/>
              <a:defRPr sz="1000" b="0" i="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fld id="{54797FC3-DC33-DA47-95F6-F7EB925D69E8}" type="slidenum">
              <a:t>‹#›</a:t>
            </a:fld>
            <a:endParaRPr/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B4FB858D-2F6C-4BED-B7F5-E2150863062E}"/>
              </a:ext>
            </a:extLst>
          </p:cNvPr>
          <p:cNvSpPr>
            <a:spLocks noGrp="1"/>
          </p:cNvSpPr>
          <p:nvPr/>
        </p:nv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CF1CCBC-343B-CD4F-BF3E-3463406E4A60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013259" y="2174380"/>
            <a:ext cx="4621420" cy="435426"/>
          </a:xfrm>
        </p:spPr>
        <p:txBody>
          <a:bodyPr/>
          <a:lstStyle>
            <a:lvl1pPr marL="0" indent="0" algn="l">
              <a:buNone/>
              <a:defRPr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>
              <a:buNone/>
            </a:pPr>
            <a:r>
              <a:t>Introduction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EBD27A4E-67D1-41E0-BE75-669DDAFB2A07}"/>
              </a:ext>
            </a:extLst>
          </p:cNvPr>
          <p:cNvSpPr>
            <a:spLocks noGrp="1"/>
          </p:cNvSpPr>
          <p:nvPr/>
        </p:nvSpPr>
        <p:spPr>
          <a:xfrm>
            <a:off x="6096000" y="2222627"/>
            <a:ext cx="0" cy="358521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90F1FEA-C095-9C41-AF49-B3244A7C633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557325" y="2730355"/>
            <a:ext cx="4621423" cy="3077488"/>
          </a:xfrm>
        </p:spPr>
        <p:txBody>
          <a:bodyPr/>
          <a:lstStyle>
            <a:lvl1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1pPr>
            <a:lvl2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2pPr>
            <a:lvl3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3pPr>
            <a:lvl4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4pPr>
            <a:lvl5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479F181-696D-A344-9BE8-D865710349BC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557322" y="2174380"/>
            <a:ext cx="4621420" cy="435426"/>
          </a:xfrm>
        </p:spPr>
        <p:txBody>
          <a:bodyPr/>
          <a:lstStyle>
            <a:lvl1pPr marL="0" indent="0" algn="l">
              <a:buNone/>
              <a:defRPr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>
              <a:buNone/>
            </a:pPr>
            <a:r>
              <a:t>Objectives</a:t>
            </a:r>
          </a:p>
        </p:txBody>
      </p:sp>
      <p:pic>
        <p:nvPicPr>
          <p:cNvPr id="20" name="Graphic 7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36359" y="6532449"/>
            <a:ext cx="1763519" cy="349212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C670008-D2B8-38B4-FC72-EBC75947F4A4}"/>
              </a:ext>
            </a:extLst>
          </p:cNvPr>
          <p:cNvSpPr>
            <a:spLocks noGrp="1"/>
          </p:cNvSpPr>
          <p:nvPr/>
        </p:nvSpPr>
        <p:spPr>
          <a:xfrm>
            <a:off x="1" y="6500354"/>
            <a:ext cx="12192000" cy="208250"/>
          </a:xfrm>
          <a:prstGeom prst="rect">
            <a:avLst/>
          </a:prstGeom>
        </p:spPr>
        <p:txBody>
          <a:bodyPr lIns="0" tIns="0" rIns="0" bIns="0" anchor="b"/>
          <a:lstStyle>
            <a:lvl1pPr marL="0" algn="ctr">
              <a:buNone/>
              <a:defRPr sz="1000"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t>Code, Chat, &amp; Collab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6895CA-194A-471C-05F9-94C206DD939A}"/>
              </a:ext>
            </a:extLst>
          </p:cNvPr>
          <p:cNvSpPr>
            <a:spLocks noGrp="1"/>
          </p:cNvSpPr>
          <p:nvPr/>
        </p:nvSpPr>
        <p:spPr>
          <a:xfrm>
            <a:off x="10052957" y="6593168"/>
            <a:ext cx="1602684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chemeClr val="bg1"/>
                </a:solidFill>
                <a:latin typeface="Arial"/>
                <a:ea typeface="Arial"/>
                <a:cs typeface="Arial"/>
              </a:rPr>
              <a:t>© Informatics Club. All Rights Reserved.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1pPr>
            <a:lvl2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2pPr>
            <a:lvl3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3pPr>
            <a:lvl4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4pPr>
            <a:lvl5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4" y="476722"/>
            <a:ext cx="10636465" cy="768545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>
            <a:lvl1pPr>
              <a:buNone/>
              <a:defRPr b="1" i="0">
                <a:latin typeface="Arial"/>
                <a:ea typeface="Arial"/>
                <a:cs typeface="Arial"/>
              </a:defRPr>
            </a:lvl1pPr>
          </a:lstStyle>
          <a:p>
            <a:r>
              <a:t>Title and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anchor="ctr"/>
          <a:lstStyle>
            <a:lvl1pPr algn="l">
              <a:buNone/>
              <a:defRPr sz="1000" b="0" i="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fld id="{54797FC3-DC33-DA47-95F6-F7EB925D69E8}" type="slidenum">
              <a:t>‹#›</a:t>
            </a:fld>
            <a:endParaRPr/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B0282D6A-AF4F-4EE2-9822-9BD8D023F709}"/>
              </a:ext>
            </a:extLst>
          </p:cNvPr>
          <p:cNvSpPr>
            <a:spLocks noGrp="1"/>
          </p:cNvSpPr>
          <p:nvPr/>
        </p:nv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>
            <a:spLocks noGrp="1"/>
          </p:cNvSpPr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>
            <a:spLocks noGrp="1"/>
          </p:cNvSpPr>
          <p:nvPr/>
        </p:nvSpPr>
        <p:spPr>
          <a:xfrm>
            <a:off x="10052957" y="6593168"/>
            <a:ext cx="1602684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chemeClr val="bg1"/>
                </a:solidFill>
                <a:latin typeface="Arial"/>
                <a:ea typeface="Arial"/>
                <a:cs typeface="Arial"/>
              </a:rPr>
              <a:t>© Informatics Club. All Rights Reserved.</a:t>
            </a:r>
          </a:p>
        </p:txBody>
      </p:sp>
      <p:pic>
        <p:nvPicPr>
          <p:cNvPr id="17" name="Graphic 7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36359" y="6532449"/>
            <a:ext cx="1763519" cy="349212"/>
          </a:xfrm>
          <a:prstGeom prst="rect">
            <a:avLst/>
          </a:prstGeom>
        </p:spPr>
      </p:pic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7442D8E3-D9BC-AD09-82A6-03BB8CED56CF}"/>
              </a:ext>
            </a:extLst>
          </p:cNvPr>
          <p:cNvSpPr>
            <a:spLocks noGrp="1"/>
          </p:cNvSpPr>
          <p:nvPr/>
        </p:nvSpPr>
        <p:spPr>
          <a:xfrm>
            <a:off x="1" y="6500354"/>
            <a:ext cx="12192000" cy="208250"/>
          </a:xfrm>
          <a:prstGeom prst="rect">
            <a:avLst/>
          </a:prstGeom>
        </p:spPr>
        <p:txBody>
          <a:bodyPr lIns="0" tIns="0" rIns="0" bIns="0" anchor="b"/>
          <a:lstStyle>
            <a:lvl1pPr marL="0" algn="ctr">
              <a:buNone/>
              <a:defRPr sz="1000"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t>Code, Chat, &amp; Collab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-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0" y="1645670"/>
            <a:ext cx="5306656" cy="4351338"/>
          </a:xfrm>
        </p:spPr>
        <p:txBody>
          <a:bodyPr/>
          <a:lstStyle>
            <a:lvl1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1pPr>
            <a:lvl2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2pPr>
            <a:lvl3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3pPr>
            <a:lvl4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4pPr>
            <a:lvl5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>
            <a:lvl1pPr>
              <a:buNone/>
              <a:defRPr b="1" i="0">
                <a:latin typeface="Arial"/>
                <a:ea typeface="Arial"/>
                <a:cs typeface="Arial"/>
              </a:defRPr>
            </a:lvl1pPr>
          </a:lstStyle>
          <a:p>
            <a:r>
              <a:t>Title and Text – Two Columns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220D36-0B0B-184D-8149-9B9135D3625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52764" y="1645670"/>
            <a:ext cx="5306656" cy="4351338"/>
          </a:xfrm>
        </p:spPr>
        <p:txBody>
          <a:bodyPr/>
          <a:lstStyle>
            <a:lvl1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1pPr>
            <a:lvl2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2pPr>
            <a:lvl3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3pPr>
            <a:lvl4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4pPr>
            <a:lvl5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anchor="ctr"/>
          <a:lstStyle>
            <a:lvl1pPr algn="l">
              <a:buNone/>
              <a:defRPr sz="1000" b="0" i="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fld id="{54797FC3-DC33-DA47-95F6-F7EB925D69E8}" type="slidenum">
              <a:t>‹#›</a:t>
            </a:fld>
            <a:endParaRPr/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8BFC2661-897C-413F-BECD-18F972909E99}"/>
              </a:ext>
            </a:extLst>
          </p:cNvPr>
          <p:cNvSpPr>
            <a:spLocks noGrp="1"/>
          </p:cNvSpPr>
          <p:nvPr/>
        </p:nv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>
            <a:spLocks noGrp="1"/>
          </p:cNvSpPr>
          <p:nvPr/>
        </p:nvSpPr>
        <p:spPr>
          <a:xfrm>
            <a:off x="38100" y="6395989"/>
            <a:ext cx="12192000" cy="465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7" name="Graphic 7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36359" y="6532449"/>
            <a:ext cx="1763519" cy="349212"/>
          </a:xfrm>
          <a:prstGeom prst="rect">
            <a:avLst/>
          </a:prstGeom>
        </p:spPr>
      </p:pic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F7937BF6-D120-BCE9-9CE8-FB32C401C60F}"/>
              </a:ext>
            </a:extLst>
          </p:cNvPr>
          <p:cNvSpPr>
            <a:spLocks noGrp="1"/>
          </p:cNvSpPr>
          <p:nvPr/>
        </p:nvSpPr>
        <p:spPr>
          <a:xfrm>
            <a:off x="1" y="6500354"/>
            <a:ext cx="12192000" cy="208250"/>
          </a:xfrm>
          <a:prstGeom prst="rect">
            <a:avLst/>
          </a:prstGeom>
        </p:spPr>
        <p:txBody>
          <a:bodyPr lIns="0" tIns="0" rIns="0" bIns="0" anchor="b"/>
          <a:lstStyle>
            <a:lvl1pPr marL="0" algn="ctr">
              <a:buNone/>
              <a:defRPr sz="1000"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t>Code, Chat, &amp; Collab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2B432A-899A-21DE-5D8B-ABFEFF4973A3}"/>
              </a:ext>
            </a:extLst>
          </p:cNvPr>
          <p:cNvSpPr>
            <a:spLocks noGrp="1"/>
          </p:cNvSpPr>
          <p:nvPr/>
        </p:nvSpPr>
        <p:spPr>
          <a:xfrm>
            <a:off x="10052957" y="6593168"/>
            <a:ext cx="1602684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chemeClr val="bg1"/>
                </a:solidFill>
                <a:latin typeface="Arial"/>
                <a:ea typeface="Arial"/>
                <a:cs typeface="Arial"/>
              </a:rPr>
              <a:t>© Informatics Club. All Rights Reserved.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- 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5" y="1645669"/>
            <a:ext cx="3285783" cy="4532881"/>
          </a:xfrm>
        </p:spPr>
        <p:txBody>
          <a:bodyPr/>
          <a:lstStyle>
            <a:lvl1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1pPr>
            <a:lvl2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2pPr>
            <a:lvl3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3pPr>
            <a:lvl4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4pPr>
            <a:lvl5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>
            <a:lvl1pPr>
              <a:buNone/>
              <a:defRPr b="1" i="0">
                <a:latin typeface="Arial"/>
                <a:ea typeface="Arial"/>
                <a:cs typeface="Arial"/>
              </a:defRPr>
            </a:lvl1pPr>
          </a:lstStyle>
          <a:p>
            <a:r>
              <a:t>Title and Text – Three Columns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anchor="ctr"/>
          <a:lstStyle>
            <a:lvl1pPr algn="l">
              <a:buNone/>
              <a:defRPr sz="1000" b="0" i="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fld id="{54797FC3-DC33-DA47-95F6-F7EB925D69E8}" type="slidenum">
              <a:t>‹#›</a:t>
            </a:fld>
            <a:endParaRPr/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672E7FF7-A8E0-49CB-83E4-2692ED0C31AC}"/>
              </a:ext>
            </a:extLst>
          </p:cNvPr>
          <p:cNvSpPr>
            <a:spLocks noGrp="1"/>
          </p:cNvSpPr>
          <p:nvPr/>
        </p:nv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21CA2C-7612-4048-8310-44CF888BB3F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453113" y="1645669"/>
            <a:ext cx="3285783" cy="4532881"/>
          </a:xfrm>
        </p:spPr>
        <p:txBody>
          <a:bodyPr/>
          <a:lstStyle>
            <a:lvl1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1pPr>
            <a:lvl2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2pPr>
            <a:lvl3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3pPr>
            <a:lvl4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4pPr>
            <a:lvl5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D818386-66BA-5445-8FE3-6B46BB48E16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369861" y="1645669"/>
            <a:ext cx="3285783" cy="4532881"/>
          </a:xfrm>
        </p:spPr>
        <p:txBody>
          <a:bodyPr/>
          <a:lstStyle>
            <a:lvl1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1pPr>
            <a:lvl2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2pPr>
            <a:lvl3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3pPr>
            <a:lvl4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4pPr>
            <a:lvl5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>
            <a:spLocks noGrp="1"/>
          </p:cNvSpPr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8" name="Graphic 7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36359" y="6532449"/>
            <a:ext cx="1763519" cy="349212"/>
          </a:xfrm>
          <a:prstGeom prst="rect">
            <a:avLst/>
          </a:prstGeom>
        </p:spPr>
      </p:pic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DF43F77B-627A-FE63-7B6E-8592FEE0B53C}"/>
              </a:ext>
            </a:extLst>
          </p:cNvPr>
          <p:cNvSpPr>
            <a:spLocks noGrp="1"/>
          </p:cNvSpPr>
          <p:nvPr/>
        </p:nvSpPr>
        <p:spPr>
          <a:xfrm>
            <a:off x="1" y="6500354"/>
            <a:ext cx="12192000" cy="208250"/>
          </a:xfrm>
          <a:prstGeom prst="rect">
            <a:avLst/>
          </a:prstGeom>
        </p:spPr>
        <p:txBody>
          <a:bodyPr lIns="0" tIns="0" rIns="0" bIns="0" anchor="b"/>
          <a:lstStyle>
            <a:lvl1pPr marL="0" algn="ctr">
              <a:buNone/>
              <a:defRPr sz="1000"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t>Code, Chat, &amp; Collab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11EE4D-74AE-6A18-CDCB-25CE08B1FA2E}"/>
              </a:ext>
            </a:extLst>
          </p:cNvPr>
          <p:cNvSpPr>
            <a:spLocks noGrp="1"/>
          </p:cNvSpPr>
          <p:nvPr/>
        </p:nvSpPr>
        <p:spPr>
          <a:xfrm>
            <a:off x="10052957" y="6593168"/>
            <a:ext cx="1602684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chemeClr val="bg1"/>
                </a:solidFill>
                <a:latin typeface="Arial"/>
                <a:ea typeface="Arial"/>
                <a:cs typeface="Arial"/>
              </a:rPr>
              <a:t>© Informatics Club. All Rights Reserved.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- Four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3" y="1645670"/>
            <a:ext cx="2483999" cy="453288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1pPr>
            <a:lvl2pPr marL="457178" indent="0"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2pPr>
            <a:lvl3pPr marL="914354" indent="0"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3pPr>
            <a:lvl4pPr marL="1371532" indent="0"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4pPr>
            <a:lvl5pPr marL="1828709" indent="0"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>
            <a:lvl1pPr>
              <a:buNone/>
              <a:defRPr b="1" i="0">
                <a:latin typeface="Arial"/>
                <a:ea typeface="Arial"/>
                <a:cs typeface="Arial"/>
              </a:defRPr>
            </a:lvl1pPr>
          </a:lstStyle>
          <a:p>
            <a:r>
              <a:t>Title and Text – Four Columns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anchor="ctr"/>
          <a:lstStyle>
            <a:lvl1pPr algn="l">
              <a:buNone/>
              <a:defRPr sz="1000" b="0" i="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fld id="{54797FC3-DC33-DA47-95F6-F7EB925D69E8}" type="slidenum">
              <a:t>‹#›</a:t>
            </a:fld>
            <a:endParaRPr/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D2903A36-24EA-4265-B567-E6D01EFC7974}"/>
              </a:ext>
            </a:extLst>
          </p:cNvPr>
          <p:cNvSpPr>
            <a:spLocks noGrp="1"/>
          </p:cNvSpPr>
          <p:nvPr/>
        </p:nv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21CA2C-7612-4048-8310-44CF888BB3F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414791" y="1645670"/>
            <a:ext cx="2483999" cy="453288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latin typeface="+mn-lt"/>
                <a:ea typeface="+mn-lt"/>
                <a:cs typeface="+mn-lt"/>
              </a:defRPr>
            </a:lvl1pPr>
            <a:lvl2pPr marL="457178" indent="0">
              <a:lnSpc>
                <a:spcPct val="100000"/>
              </a:lnSpc>
              <a:buNone/>
              <a:defRPr>
                <a:latin typeface="+mn-lt"/>
                <a:ea typeface="+mn-lt"/>
                <a:cs typeface="+mn-lt"/>
              </a:defRPr>
            </a:lvl2pPr>
            <a:lvl3pPr marL="914354" indent="0">
              <a:lnSpc>
                <a:spcPct val="100000"/>
              </a:lnSpc>
              <a:buNone/>
              <a:defRPr>
                <a:latin typeface="+mn-lt"/>
                <a:ea typeface="+mn-lt"/>
                <a:cs typeface="+mn-lt"/>
              </a:defRPr>
            </a:lvl3pPr>
            <a:lvl4pPr marL="1371532" indent="0">
              <a:lnSpc>
                <a:spcPct val="100000"/>
              </a:lnSpc>
              <a:buNone/>
              <a:defRPr>
                <a:latin typeface="+mn-lt"/>
                <a:ea typeface="+mn-lt"/>
                <a:cs typeface="+mn-lt"/>
              </a:defRPr>
            </a:lvl4pPr>
            <a:lvl5pPr marL="1828709" indent="0">
              <a:lnSpc>
                <a:spcPct val="100000"/>
              </a:lnSpc>
              <a:buNone/>
              <a:defRPr>
                <a:latin typeface="+mn-lt"/>
                <a:ea typeface="+mn-lt"/>
                <a:cs typeface="+mn-lt"/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D818386-66BA-5445-8FE3-6B46BB48E16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93218" y="1645670"/>
            <a:ext cx="2483999" cy="453288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latin typeface="+mn-lt"/>
                <a:ea typeface="+mn-lt"/>
                <a:cs typeface="+mn-lt"/>
              </a:defRPr>
            </a:lvl1pPr>
            <a:lvl2pPr marL="457178" indent="0">
              <a:lnSpc>
                <a:spcPct val="100000"/>
              </a:lnSpc>
              <a:buNone/>
              <a:defRPr>
                <a:latin typeface="+mn-lt"/>
                <a:ea typeface="+mn-lt"/>
                <a:cs typeface="+mn-lt"/>
              </a:defRPr>
            </a:lvl2pPr>
            <a:lvl3pPr marL="914354" indent="0">
              <a:lnSpc>
                <a:spcPct val="100000"/>
              </a:lnSpc>
              <a:buNone/>
              <a:defRPr>
                <a:latin typeface="+mn-lt"/>
                <a:ea typeface="+mn-lt"/>
                <a:cs typeface="+mn-lt"/>
              </a:defRPr>
            </a:lvl3pPr>
            <a:lvl4pPr marL="1371532" indent="0">
              <a:lnSpc>
                <a:spcPct val="100000"/>
              </a:lnSpc>
              <a:buNone/>
              <a:defRPr>
                <a:latin typeface="+mn-lt"/>
                <a:ea typeface="+mn-lt"/>
                <a:cs typeface="+mn-lt"/>
              </a:defRPr>
            </a:lvl4pPr>
            <a:lvl5pPr marL="1828709" indent="0">
              <a:lnSpc>
                <a:spcPct val="100000"/>
              </a:lnSpc>
              <a:buNone/>
              <a:defRPr>
                <a:latin typeface="+mn-lt"/>
                <a:ea typeface="+mn-lt"/>
                <a:cs typeface="+mn-lt"/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071A652-E99D-A440-AF7D-B3DF482D3EA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171645" y="1645670"/>
            <a:ext cx="2483999" cy="453288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latin typeface="+mn-lt"/>
                <a:ea typeface="+mn-lt"/>
                <a:cs typeface="+mn-lt"/>
              </a:defRPr>
            </a:lvl1pPr>
            <a:lvl2pPr marL="457178" indent="0">
              <a:lnSpc>
                <a:spcPct val="100000"/>
              </a:lnSpc>
              <a:buNone/>
              <a:defRPr>
                <a:latin typeface="+mn-lt"/>
                <a:ea typeface="+mn-lt"/>
                <a:cs typeface="+mn-lt"/>
              </a:defRPr>
            </a:lvl2pPr>
            <a:lvl3pPr marL="914354" indent="0">
              <a:lnSpc>
                <a:spcPct val="100000"/>
              </a:lnSpc>
              <a:buNone/>
              <a:defRPr>
                <a:latin typeface="+mn-lt"/>
                <a:ea typeface="+mn-lt"/>
                <a:cs typeface="+mn-lt"/>
              </a:defRPr>
            </a:lvl3pPr>
            <a:lvl4pPr marL="1371532" indent="0">
              <a:lnSpc>
                <a:spcPct val="100000"/>
              </a:lnSpc>
              <a:buNone/>
              <a:defRPr>
                <a:latin typeface="+mn-lt"/>
                <a:ea typeface="+mn-lt"/>
                <a:cs typeface="+mn-lt"/>
              </a:defRPr>
            </a:lvl4pPr>
            <a:lvl5pPr marL="1828709" indent="0">
              <a:lnSpc>
                <a:spcPct val="100000"/>
              </a:lnSpc>
              <a:buNone/>
              <a:defRPr>
                <a:latin typeface="+mn-lt"/>
                <a:ea typeface="+mn-lt"/>
                <a:cs typeface="+mn-lt"/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>
            <a:spLocks noGrp="1"/>
          </p:cNvSpPr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9" name="Graphic 7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36359" y="6532449"/>
            <a:ext cx="1763519" cy="349212"/>
          </a:xfrm>
          <a:prstGeom prst="rect">
            <a:avLst/>
          </a:prstGeom>
        </p:spPr>
      </p:pic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3FE1B0BF-38EF-A608-A7A4-90D22044302F}"/>
              </a:ext>
            </a:extLst>
          </p:cNvPr>
          <p:cNvSpPr>
            <a:spLocks noGrp="1"/>
          </p:cNvSpPr>
          <p:nvPr/>
        </p:nvSpPr>
        <p:spPr>
          <a:xfrm>
            <a:off x="1" y="6500354"/>
            <a:ext cx="12192000" cy="208250"/>
          </a:xfrm>
          <a:prstGeom prst="rect">
            <a:avLst/>
          </a:prstGeom>
        </p:spPr>
        <p:txBody>
          <a:bodyPr lIns="0" tIns="0" rIns="0" bIns="0" anchor="b"/>
          <a:lstStyle>
            <a:lvl1pPr marL="0" algn="ctr">
              <a:buNone/>
              <a:defRPr sz="1000"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t>Code, Chat, &amp; Collab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C28FB0-48B2-A080-E3E4-ADBDFC660EA5}"/>
              </a:ext>
            </a:extLst>
          </p:cNvPr>
          <p:cNvSpPr>
            <a:spLocks noGrp="1"/>
          </p:cNvSpPr>
          <p:nvPr/>
        </p:nvSpPr>
        <p:spPr>
          <a:xfrm>
            <a:off x="10052957" y="6593168"/>
            <a:ext cx="1602684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chemeClr val="bg1"/>
                </a:solidFill>
                <a:latin typeface="Arial"/>
                <a:ea typeface="Arial"/>
                <a:cs typeface="Arial"/>
              </a:rPr>
              <a:t>© Informatics Club. All Rights Reserved.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Custom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1" y="1645669"/>
            <a:ext cx="4979776" cy="4532881"/>
          </a:xfrm>
        </p:spPr>
        <p:txBody>
          <a:bodyPr/>
          <a:lstStyle>
            <a:lvl1pPr marL="342900" indent="-342900">
              <a:lnSpc>
                <a:spcPct val="100000"/>
              </a:lnSpc>
              <a:buChar char="•"/>
              <a:defRPr b="0" i="0">
                <a:latin typeface="Arial"/>
                <a:ea typeface="Arial"/>
                <a:cs typeface="Arial"/>
              </a:defRPr>
            </a:lvl1pPr>
            <a:lvl2pPr marL="800078" indent="-342900">
              <a:lnSpc>
                <a:spcPct val="100000"/>
              </a:lnSpc>
              <a:buChar char="•"/>
              <a:defRPr b="0" i="0">
                <a:latin typeface="Arial"/>
                <a:ea typeface="Arial"/>
                <a:cs typeface="Arial"/>
              </a:defRPr>
            </a:lvl2pPr>
            <a:lvl3pPr marL="1200104" indent="-285750">
              <a:lnSpc>
                <a:spcPct val="100000"/>
              </a:lnSpc>
              <a:buChar char="•"/>
              <a:defRPr b="0" i="0">
                <a:latin typeface="Arial"/>
                <a:ea typeface="Arial"/>
                <a:cs typeface="Arial"/>
              </a:defRPr>
            </a:lvl3pPr>
            <a:lvl4pPr marL="1657282" indent="-285750">
              <a:lnSpc>
                <a:spcPct val="100000"/>
              </a:lnSpc>
              <a:buChar char="•"/>
              <a:defRPr b="0" i="0">
                <a:latin typeface="Arial"/>
                <a:ea typeface="Arial"/>
                <a:cs typeface="Arial"/>
              </a:defRPr>
            </a:lvl4pPr>
            <a:lvl5pPr marL="2114459" indent="-285750">
              <a:lnSpc>
                <a:spcPct val="100000"/>
              </a:lnSpc>
              <a:buChar char="•"/>
              <a:defRPr b="0" i="0">
                <a:latin typeface="Arial"/>
                <a:ea typeface="Arial"/>
                <a:cs typeface="Arial"/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>
            <a:spLocks noGrp="1"/>
          </p:cNvSpPr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anchor="ctr"/>
          <a:lstStyle>
            <a:lvl1pPr algn="l">
              <a:buNone/>
              <a:defRPr sz="1000" b="0" i="0">
                <a:solidFill>
                  <a:schemeClr val="tx2"/>
                </a:solidFill>
                <a:latin typeface="Proxima Nova Rg"/>
                <a:ea typeface="Proxima Nova Rg"/>
                <a:cs typeface="Proxima Nova Rg"/>
              </a:defRPr>
            </a:lvl1pPr>
          </a:lstStyle>
          <a:p>
            <a:fld id="{54797FC3-DC33-DA47-95F6-F7EB925D69E8}" type="slidenum">
              <a:rPr>
                <a:latin typeface="Arial"/>
                <a:ea typeface="Arial"/>
                <a:cs typeface="Arial"/>
              </a:rPr>
              <a:t>‹#›</a:t>
            </a:fld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223EBF67-1A31-4015-B7B3-5BECD36C4BDE}"/>
              </a:ext>
            </a:extLst>
          </p:cNvPr>
          <p:cNvSpPr>
            <a:spLocks noGrp="1"/>
          </p:cNvSpPr>
          <p:nvPr/>
        </p:nv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19" name="Graphic 7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36359" y="6532449"/>
            <a:ext cx="1763519" cy="34921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408DD3-5A2B-A2A7-5BF1-E1E18CEC1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 b="1"/>
            </a:lvl1pPr>
          </a:lstStyle>
          <a:p>
            <a:r>
              <a:t>Click to edit Master title style</a:t>
            </a: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BDAA9C90-9C2C-BA69-2680-ECDAFF72C83F}"/>
              </a:ext>
            </a:extLst>
          </p:cNvPr>
          <p:cNvSpPr>
            <a:spLocks noGrp="1"/>
          </p:cNvSpPr>
          <p:nvPr/>
        </p:nvSpPr>
        <p:spPr>
          <a:xfrm>
            <a:off x="1" y="6500354"/>
            <a:ext cx="12192000" cy="208250"/>
          </a:xfrm>
          <a:prstGeom prst="rect">
            <a:avLst/>
          </a:prstGeom>
        </p:spPr>
        <p:txBody>
          <a:bodyPr lIns="0" tIns="0" rIns="0" bIns="0" anchor="b"/>
          <a:lstStyle>
            <a:lvl1pPr marL="0" algn="ctr">
              <a:buNone/>
              <a:defRPr sz="1000"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t>Code, Chat, &amp; Collab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E59DF0-023A-6168-9340-5A7ABAD7B38D}"/>
              </a:ext>
            </a:extLst>
          </p:cNvPr>
          <p:cNvSpPr>
            <a:spLocks noGrp="1"/>
          </p:cNvSpPr>
          <p:nvPr/>
        </p:nvSpPr>
        <p:spPr>
          <a:xfrm>
            <a:off x="10052957" y="6593168"/>
            <a:ext cx="1602684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chemeClr val="bg1"/>
                </a:solidFill>
                <a:latin typeface="Arial"/>
                <a:ea typeface="Arial"/>
                <a:cs typeface="Arial"/>
              </a:rPr>
              <a:t>© Informatics Club. All Rights Reserved.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1" y="1645669"/>
            <a:ext cx="4979776" cy="4532881"/>
          </a:xfrm>
        </p:spPr>
        <p:txBody>
          <a:bodyPr/>
          <a:lstStyle>
            <a:lvl1pPr marL="342900" indent="-342900">
              <a:lnSpc>
                <a:spcPct val="100000"/>
              </a:lnSpc>
              <a:buChar char="•"/>
              <a:defRPr b="0" i="0">
                <a:latin typeface="Arial"/>
                <a:ea typeface="Arial"/>
                <a:cs typeface="Arial"/>
              </a:defRPr>
            </a:lvl1pPr>
            <a:lvl2pPr marL="800078" indent="-342900">
              <a:lnSpc>
                <a:spcPct val="100000"/>
              </a:lnSpc>
              <a:buChar char="•"/>
              <a:defRPr b="0" i="0">
                <a:latin typeface="Arial"/>
                <a:ea typeface="Arial"/>
                <a:cs typeface="Arial"/>
              </a:defRPr>
            </a:lvl2pPr>
            <a:lvl3pPr marL="1200104" indent="-285750">
              <a:lnSpc>
                <a:spcPct val="100000"/>
              </a:lnSpc>
              <a:buChar char="•"/>
              <a:defRPr b="0" i="0">
                <a:latin typeface="Arial"/>
                <a:ea typeface="Arial"/>
                <a:cs typeface="Arial"/>
              </a:defRPr>
            </a:lvl3pPr>
            <a:lvl4pPr marL="1657282" indent="-285750">
              <a:lnSpc>
                <a:spcPct val="100000"/>
              </a:lnSpc>
              <a:buChar char="•"/>
              <a:defRPr b="0" i="0">
                <a:latin typeface="Arial"/>
                <a:ea typeface="Arial"/>
                <a:cs typeface="Arial"/>
              </a:defRPr>
            </a:lvl4pPr>
            <a:lvl5pPr marL="2114459" indent="-285750">
              <a:lnSpc>
                <a:spcPct val="100000"/>
              </a:lnSpc>
              <a:buChar char="•"/>
              <a:defRPr b="0" i="0">
                <a:latin typeface="Arial"/>
                <a:ea typeface="Arial"/>
                <a:cs typeface="Arial"/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E64717-DA8A-9C47-B2BD-397159535367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5943936" y="1645669"/>
            <a:ext cx="5830976" cy="4532881"/>
          </a:xfrm>
        </p:spPr>
        <p:txBody>
          <a:bodyPr/>
          <a:lstStyle>
            <a:lvl1pPr marL="0" indent="0" algn="ctr">
              <a:buNone/>
              <a:defRPr b="0" i="0">
                <a:latin typeface="Arial"/>
                <a:ea typeface="Arial"/>
                <a:cs typeface="Arial"/>
              </a:defRPr>
            </a:lvl1pPr>
          </a:lstStyle>
          <a:p>
            <a:r>
              <a:t>Click icon to add picture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>
            <a:spLocks noGrp="1"/>
          </p:cNvSpPr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anchor="ctr"/>
          <a:lstStyle>
            <a:lvl1pPr algn="l">
              <a:buNone/>
              <a:defRPr sz="1000" b="0" i="0">
                <a:solidFill>
                  <a:schemeClr val="tx2"/>
                </a:solidFill>
                <a:latin typeface="Proxima Nova Rg"/>
                <a:ea typeface="Proxima Nova Rg"/>
                <a:cs typeface="Proxima Nova Rg"/>
              </a:defRPr>
            </a:lvl1pPr>
          </a:lstStyle>
          <a:p>
            <a:fld id="{54797FC3-DC33-DA47-95F6-F7EB925D69E8}" type="slidenum">
              <a:rPr>
                <a:latin typeface="Arial"/>
                <a:ea typeface="Arial"/>
                <a:cs typeface="Arial"/>
              </a:rPr>
              <a:t>‹#›</a:t>
            </a:fld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C91E6154-65D2-4681-A5C5-C7FAC4BD5AF7}"/>
              </a:ext>
            </a:extLst>
          </p:cNvPr>
          <p:cNvSpPr>
            <a:spLocks noGrp="1"/>
          </p:cNvSpPr>
          <p:nvPr/>
        </p:nv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pic>
        <p:nvPicPr>
          <p:cNvPr id="22" name="Graphic 7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36359" y="6532449"/>
            <a:ext cx="1763519" cy="34921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408DD3-5A2B-A2A7-5BF1-E1E18CEC1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 b="1"/>
            </a:lvl1pPr>
          </a:lstStyle>
          <a:p>
            <a:r>
              <a:t>Click to edit Master title style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B5F36C-ABDB-535B-8FA1-EF74C24AF318}"/>
              </a:ext>
            </a:extLst>
          </p:cNvPr>
          <p:cNvSpPr>
            <a:spLocks noGrp="1"/>
          </p:cNvSpPr>
          <p:nvPr/>
        </p:nvSpPr>
        <p:spPr>
          <a:xfrm>
            <a:off x="12555415" y="-21265"/>
            <a:ext cx="3615027" cy="5632311"/>
          </a:xfrm>
          <a:prstGeom prst="rect">
            <a:avLst/>
          </a:prstGeom>
          <a:solidFill>
            <a:srgbClr val="ECECEC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TO INSERT IMAGE: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- </a:t>
            </a:r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*Click*  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”Insert”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- </a:t>
            </a:r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*Click*  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”Picture” 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- </a:t>
            </a:r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*Click*  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”From a File”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_______</a:t>
            </a:r>
            <a:br/>
            <a:br/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ADD IMAGE TO IMAGE BOX: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- </a:t>
            </a:r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*Click* 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the image icon in the empty image box on the slide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_______</a:t>
            </a:r>
            <a:br/>
            <a:br/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TO CHANGE IMAGE: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- </a:t>
            </a:r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*Right-click* 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on the image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- </a:t>
            </a:r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*Select* 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”Change Picture” 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- </a:t>
            </a:r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*Click* 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”From a File”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_______</a:t>
            </a:r>
            <a:br/>
            <a:br/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TO REPOSITION  IMAGE: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- </a:t>
            </a:r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*Click* 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on the image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- </a:t>
            </a:r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*Select* 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”Picture Format” in toolbar 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- </a:t>
            </a:r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*Click* 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”Crop” Button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-  Adjust the photo position or size</a:t>
            </a:r>
            <a:br/>
            <a:endParaRPr/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2D334047-F3BB-CCC2-5554-0A3954936CD3}"/>
              </a:ext>
            </a:extLst>
          </p:cNvPr>
          <p:cNvSpPr>
            <a:spLocks noGrp="1"/>
          </p:cNvSpPr>
          <p:nvPr/>
        </p:nvSpPr>
        <p:spPr>
          <a:xfrm>
            <a:off x="1" y="6500354"/>
            <a:ext cx="12192000" cy="208250"/>
          </a:xfrm>
          <a:prstGeom prst="rect">
            <a:avLst/>
          </a:prstGeom>
        </p:spPr>
        <p:txBody>
          <a:bodyPr lIns="0" tIns="0" rIns="0" bIns="0" anchor="b"/>
          <a:lstStyle>
            <a:lvl1pPr marL="0" algn="ctr">
              <a:buNone/>
              <a:defRPr sz="1000"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t>Code, Chat, &amp; Collab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951CFB-189C-43C3-D427-B4FBD03C7591}"/>
              </a:ext>
            </a:extLst>
          </p:cNvPr>
          <p:cNvSpPr>
            <a:spLocks noGrp="1"/>
          </p:cNvSpPr>
          <p:nvPr/>
        </p:nvSpPr>
        <p:spPr>
          <a:xfrm>
            <a:off x="10052957" y="6593168"/>
            <a:ext cx="1602684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chemeClr val="bg1"/>
                </a:solidFill>
                <a:latin typeface="Arial"/>
                <a:ea typeface="Arial"/>
                <a:cs typeface="Arial"/>
              </a:rPr>
              <a:t>© Informatics Club. All Rights Reserved.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E64717-DA8A-9C47-B2BD-397159535367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0" y="6"/>
            <a:ext cx="6096000" cy="6392979"/>
          </a:xfrm>
        </p:spPr>
        <p:txBody>
          <a:bodyPr/>
          <a:lstStyle>
            <a:lvl1pPr marL="0" indent="0" algn="ctr">
              <a:buNone/>
              <a:defRPr b="0" i="0">
                <a:latin typeface="Arial"/>
                <a:ea typeface="Arial"/>
                <a:cs typeface="Arial"/>
              </a:defRPr>
            </a:lvl1pPr>
          </a:lstStyle>
          <a:p>
            <a:r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8041" y="1645669"/>
            <a:ext cx="4979776" cy="4532881"/>
          </a:xfrm>
        </p:spPr>
        <p:txBody>
          <a:bodyPr/>
          <a:lstStyle>
            <a:lvl1pPr marL="342900" indent="-342900">
              <a:lnSpc>
                <a:spcPct val="100000"/>
              </a:lnSpc>
              <a:buChar char="•"/>
              <a:defRPr b="0" i="0">
                <a:latin typeface="Arial"/>
                <a:ea typeface="Arial"/>
                <a:cs typeface="Arial"/>
              </a:defRPr>
            </a:lvl1pPr>
            <a:lvl2pPr marL="800078" indent="-342900">
              <a:lnSpc>
                <a:spcPct val="100000"/>
              </a:lnSpc>
              <a:buChar char="•"/>
              <a:defRPr b="0" i="0">
                <a:latin typeface="Arial"/>
                <a:ea typeface="Arial"/>
                <a:cs typeface="Arial"/>
              </a:defRPr>
            </a:lvl2pPr>
            <a:lvl3pPr marL="1200104" indent="-285750">
              <a:lnSpc>
                <a:spcPct val="100000"/>
              </a:lnSpc>
              <a:buChar char="•"/>
              <a:defRPr b="0" i="0">
                <a:latin typeface="Arial"/>
                <a:ea typeface="Arial"/>
                <a:cs typeface="Arial"/>
              </a:defRPr>
            </a:lvl3pPr>
            <a:lvl4pPr marL="1657282" indent="-285750">
              <a:lnSpc>
                <a:spcPct val="100000"/>
              </a:lnSpc>
              <a:buChar char="•"/>
              <a:defRPr b="0" i="0">
                <a:latin typeface="Arial"/>
                <a:ea typeface="Arial"/>
                <a:cs typeface="Arial"/>
              </a:defRPr>
            </a:lvl4pPr>
            <a:lvl5pPr marL="2114459" indent="-285750">
              <a:lnSpc>
                <a:spcPct val="100000"/>
              </a:lnSpc>
              <a:buChar char="•"/>
              <a:defRPr b="0" i="0">
                <a:latin typeface="Arial"/>
                <a:ea typeface="Arial"/>
                <a:cs typeface="Arial"/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8041" y="476722"/>
            <a:ext cx="4610704" cy="768545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>
            <a:lvl1pPr>
              <a:buNone/>
              <a:defRPr b="1" i="0">
                <a:latin typeface="Arial"/>
                <a:ea typeface="Arial"/>
                <a:cs typeface="Arial"/>
              </a:defRPr>
            </a:lvl1pPr>
          </a:lstStyle>
          <a:p>
            <a:r>
              <a:t>Text with Picture Left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anchor="ctr"/>
          <a:lstStyle>
            <a:lvl1pPr algn="l">
              <a:buNone/>
              <a:defRPr sz="1000" b="0" i="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fld id="{54797FC3-DC33-DA47-95F6-F7EB925D69E8}" type="slidenum">
              <a:t>‹#›</a:t>
            </a:fld>
            <a:endParaRPr/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26DA51AB-50A0-492A-8EDA-7EC5D155334E}"/>
              </a:ext>
            </a:extLst>
          </p:cNvPr>
          <p:cNvSpPr>
            <a:spLocks noGrp="1"/>
          </p:cNvSpPr>
          <p:nvPr/>
        </p:nv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1">
                <a:alpha val="9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>
            <a:spLocks noGrp="1"/>
          </p:cNvSpPr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4" name="Graphic 7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36359" y="6532449"/>
            <a:ext cx="1763519" cy="3492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464A58-AE88-3C34-3334-C1D015C1E7B9}"/>
              </a:ext>
            </a:extLst>
          </p:cNvPr>
          <p:cNvSpPr>
            <a:spLocks noGrp="1"/>
          </p:cNvSpPr>
          <p:nvPr/>
        </p:nvSpPr>
        <p:spPr>
          <a:xfrm>
            <a:off x="12555415" y="-21265"/>
            <a:ext cx="3615027" cy="5632311"/>
          </a:xfrm>
          <a:prstGeom prst="rect">
            <a:avLst/>
          </a:prstGeom>
          <a:solidFill>
            <a:srgbClr val="ECECEC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TO INSERT IMAGE: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- </a:t>
            </a:r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*Click*  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”Insert”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- </a:t>
            </a:r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*Click*  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”Picture” 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- </a:t>
            </a:r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*Click*  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”From a File”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_______</a:t>
            </a:r>
            <a:br/>
            <a:br/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ADD IMAGE TO IMAGE BOX: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- </a:t>
            </a:r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*Click* 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the image icon in the empty image box on the slide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_______</a:t>
            </a:r>
            <a:br/>
            <a:br/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TO CHANGE IMAGE: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- </a:t>
            </a:r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*Right-click* 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on the image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- </a:t>
            </a:r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*Select* 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”Change Picture” 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- </a:t>
            </a:r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*Click* 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”From a File”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_______</a:t>
            </a:r>
            <a:br/>
            <a:br/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TO REPOSITION  IMAGE: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- </a:t>
            </a:r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*Click* 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on the image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- </a:t>
            </a:r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*Select* 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”Picture Format” in toolbar 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- </a:t>
            </a:r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*Click* 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”Crop” Button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-  Adjust the photo position or size</a:t>
            </a:r>
            <a:br/>
            <a:endParaRPr/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C075030A-9E47-09AB-0712-CA4B500EE448}"/>
              </a:ext>
            </a:extLst>
          </p:cNvPr>
          <p:cNvSpPr>
            <a:spLocks noGrp="1"/>
          </p:cNvSpPr>
          <p:nvPr/>
        </p:nvSpPr>
        <p:spPr>
          <a:xfrm>
            <a:off x="1" y="6500354"/>
            <a:ext cx="12192000" cy="208250"/>
          </a:xfrm>
          <a:prstGeom prst="rect">
            <a:avLst/>
          </a:prstGeom>
        </p:spPr>
        <p:txBody>
          <a:bodyPr lIns="0" tIns="0" rIns="0" bIns="0" anchor="b"/>
          <a:lstStyle>
            <a:lvl1pPr marL="0" algn="ctr">
              <a:buNone/>
              <a:defRPr sz="1000"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t>Code, Chat, &amp; Collab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E4572C-9350-DD72-6F2F-31774056836C}"/>
              </a:ext>
            </a:extLst>
          </p:cNvPr>
          <p:cNvSpPr>
            <a:spLocks noGrp="1"/>
          </p:cNvSpPr>
          <p:nvPr/>
        </p:nvSpPr>
        <p:spPr>
          <a:xfrm>
            <a:off x="10052957" y="6593168"/>
            <a:ext cx="1602684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chemeClr val="bg1"/>
                </a:solidFill>
                <a:latin typeface="Arial"/>
                <a:ea typeface="Arial"/>
                <a:cs typeface="Arial"/>
              </a:rPr>
              <a:t>© Informatics Club. All Rights Reserved.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UAB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39DCCF1-D258-304E-92F9-EAA5549B6A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1DDA15B-1995-AE43-880C-7F4CEF5CD2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buNone/>
              <a:defRPr sz="6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Section Divider – </a:t>
            </a:r>
            <a:br/>
            <a:r>
              <a:t>UAB Green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EBF7DDEF-89EA-0549-818A-952EB33F3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Dragon's La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39DCCF1-D258-304E-92F9-EAA5549B6A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1DDA15B-1995-AE43-880C-7F4CEF5CD2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buNone/>
              <a:defRPr sz="6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Section Divider – Dragon’s Lair Green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EBF7DDEF-89EA-0549-818A-952EB33F3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Badge - UAB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39DCCF1-D258-304E-92F9-EAA5549B6A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1DDA15B-1995-AE43-880C-7F4CEF5CD2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3" y="1876586"/>
            <a:ext cx="9150351" cy="2387600"/>
          </a:xfrm>
        </p:spPr>
        <p:txBody>
          <a:bodyPr anchor="b"/>
          <a:lstStyle>
            <a:lvl1pPr algn="l">
              <a:buNone/>
              <a:defRPr sz="6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Section Divider – Badge – UAB Green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EBF7DDEF-89EA-0549-818A-952EB33F3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3" y="4356261"/>
            <a:ext cx="9150351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pic>
        <p:nvPicPr>
          <p:cNvPr id="12" name="Graphic 14"/>
          <p:cNvPicPr>
            <a:picLocks noChangeAspect="1"/>
          </p:cNvPicPr>
          <p:nvPr/>
        </p:nvPicPr>
        <p:blipFill>
          <a:blip r:embed="rId2">
            <a:alphaModFix amt="8000"/>
          </a:blip>
          <a:srcRect t="10829" b="10829"/>
          <a:stretch/>
        </p:blipFill>
        <p:spPr>
          <a:xfrm>
            <a:off x="3285377" y="0"/>
            <a:ext cx="9186843" cy="7197213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Bad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80266990-FE93-48F7-AFFF-BA2D7639B9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B2FC672-E957-FC5C-B431-007B5F5FB8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buNone/>
              <a:defRPr sz="60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Section Divider – Badge White</a:t>
            </a:r>
          </a:p>
        </p:txBody>
      </p:sp>
      <p:pic>
        <p:nvPicPr>
          <p:cNvPr id="6" name="Graphic 10"/>
          <p:cNvPicPr>
            <a:picLocks noChangeAspect="1"/>
          </p:cNvPicPr>
          <p:nvPr/>
        </p:nvPicPr>
        <p:blipFill>
          <a:blip r:embed="rId2">
            <a:alphaModFix amt="6000"/>
          </a:blip>
          <a:srcRect t="10829" r="3050" b="14521"/>
          <a:stretch/>
        </p:blipFill>
        <p:spPr>
          <a:xfrm>
            <a:off x="3285375" y="0"/>
            <a:ext cx="890662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Monogram Pattern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D7BB8BC-1D47-670A-0AA2-A571E8E5B9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buNone/>
              <a:defRPr sz="6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Section Divider – Monogram Pattern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893A669-59E5-96D4-69DD-87F0EDD897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Gradient #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9EF6E62-8833-69A6-FF19-3B62920BC0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56000">
                <a:srgbClr val="0B3F22"/>
              </a:gs>
              <a:gs pos="100000">
                <a:schemeClr val="accent3"/>
              </a:gs>
              <a:gs pos="0">
                <a:schemeClr val="accent1"/>
              </a:gs>
            </a:gsLst>
            <a:lin ang="1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buNone/>
              <a:defRPr sz="6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Section Divider– Gradient #1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96A346-BC22-B60A-8007-0A3D4AFE1A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Gradient #1 with Gold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BAA40BA-E3E3-051E-9DC3-67DDF588C4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56000">
                <a:srgbClr val="0B3F22"/>
              </a:gs>
              <a:gs pos="100000">
                <a:schemeClr val="accent3"/>
              </a:gs>
              <a:gs pos="0">
                <a:schemeClr val="accent1"/>
              </a:gs>
            </a:gsLst>
            <a:lin ang="1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1999" y="1876586"/>
            <a:ext cx="9726707" cy="2387600"/>
          </a:xfrm>
        </p:spPr>
        <p:txBody>
          <a:bodyPr anchor="b"/>
          <a:lstStyle>
            <a:lvl1pPr algn="l">
              <a:buNone/>
              <a:defRPr sz="6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Section Divider – Gradient #1 with Gold Bar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>
            <a:spLocks noGrp="1"/>
          </p:cNvSpPr>
          <p:nvPr/>
        </p:nvSpPr>
        <p:spPr>
          <a:xfrm>
            <a:off x="0" y="6588678"/>
            <a:ext cx="12192000" cy="269322"/>
          </a:xfrm>
          <a:prstGeom prst="rect">
            <a:avLst/>
          </a:prstGeom>
          <a:gradFill>
            <a:gsLst>
              <a:gs pos="69000">
                <a:schemeClr val="accent2"/>
              </a:gs>
              <a:gs pos="0">
                <a:schemeClr val="accent2">
                  <a:lumMod val="48000"/>
                  <a:lumOff val="52000"/>
                </a:schemeClr>
              </a:gs>
            </a:gsLst>
            <a:lin ang="1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Gradient #2 Background">
    <p:bg>
      <p:bgPr>
        <a:gradFill>
          <a:gsLst>
            <a:gs pos="6000">
              <a:schemeClr val="accent5"/>
            </a:gs>
            <a:gs pos="65000">
              <a:schemeClr val="accent1"/>
            </a:gs>
            <a:gs pos="100000">
              <a:schemeClr val="accent3"/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27C0CC0-C774-0848-A11D-83E3655401B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73000">
                <a:schemeClr val="accent1"/>
              </a:gs>
              <a:gs pos="98000">
                <a:schemeClr val="accent3"/>
              </a:gs>
              <a:gs pos="6000">
                <a:schemeClr val="accent5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buNone/>
              <a:defRPr sz="6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Section Divider – Gradient #2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E4FFE8F-3952-B543-A65E-25E368EC85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DB004B08-0BE0-104F-BDA3-27A9E001F2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>
            <a:lvl1pPr>
              <a:buNone/>
              <a:defRPr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Contact us - Option 2</a:t>
            </a:r>
          </a:p>
        </p:txBody>
      </p:sp>
      <p:sp>
        <p:nvSpPr>
          <p:cNvPr id="17" name="Google Shape;1039;p98">
            <a:extLst>
              <a:ext uri="{FF2B5EF4-FFF2-40B4-BE49-F238E27FC236}">
                <a16:creationId xmlns:a16="http://schemas.microsoft.com/office/drawing/2014/main" id="{7CBA5E02-1A72-AA4C-BA0B-45590218EFC5}"/>
              </a:ext>
            </a:extLst>
          </p:cNvPr>
          <p:cNvSpPr>
            <a:spLocks noGrp="1"/>
          </p:cNvSpPr>
          <p:nvPr/>
        </p:nvSpPr>
        <p:spPr>
          <a:xfrm>
            <a:off x="786643" y="2728768"/>
            <a:ext cx="299728" cy="299807"/>
          </a:xfrm>
          <a:custGeom>
            <a:avLst/>
            <a:gdLst/>
            <a:ahLst/>
            <a:cxnLst/>
            <a:rect l="l" t="t" r="r" b="b"/>
            <a:pathLst>
              <a:path w="379" h="380">
                <a:moveTo>
                  <a:pt x="362" y="283"/>
                </a:moveTo>
                <a:lnTo>
                  <a:pt x="314" y="245"/>
                </a:lnTo>
                <a:cubicBezTo>
                  <a:pt x="304" y="236"/>
                  <a:pt x="288" y="236"/>
                  <a:pt x="277" y="244"/>
                </a:cubicBezTo>
                <a:lnTo>
                  <a:pt x="237" y="274"/>
                </a:lnTo>
                <a:cubicBezTo>
                  <a:pt x="232" y="278"/>
                  <a:pt x="225" y="277"/>
                  <a:pt x="220" y="272"/>
                </a:cubicBezTo>
                <a:lnTo>
                  <a:pt x="160" y="218"/>
                </a:lnTo>
                <a:lnTo>
                  <a:pt x="105" y="157"/>
                </a:lnTo>
                <a:cubicBezTo>
                  <a:pt x="100" y="152"/>
                  <a:pt x="100" y="146"/>
                  <a:pt x="103" y="141"/>
                </a:cubicBezTo>
                <a:lnTo>
                  <a:pt x="133" y="100"/>
                </a:lnTo>
                <a:cubicBezTo>
                  <a:pt x="142" y="89"/>
                  <a:pt x="141" y="74"/>
                  <a:pt x="132" y="63"/>
                </a:cubicBezTo>
                <a:lnTo>
                  <a:pt x="94" y="15"/>
                </a:lnTo>
                <a:cubicBezTo>
                  <a:pt x="82" y="1"/>
                  <a:pt x="61" y="0"/>
                  <a:pt x="48" y="13"/>
                </a:cubicBezTo>
                <a:lnTo>
                  <a:pt x="9" y="53"/>
                </a:lnTo>
                <a:cubicBezTo>
                  <a:pt x="3" y="60"/>
                  <a:pt x="0" y="69"/>
                  <a:pt x="0" y="78"/>
                </a:cubicBezTo>
                <a:cubicBezTo>
                  <a:pt x="4" y="157"/>
                  <a:pt x="40" y="233"/>
                  <a:pt x="93" y="285"/>
                </a:cubicBezTo>
                <a:cubicBezTo>
                  <a:pt x="146" y="338"/>
                  <a:pt x="221" y="374"/>
                  <a:pt x="300" y="378"/>
                </a:cubicBezTo>
                <a:cubicBezTo>
                  <a:pt x="309" y="379"/>
                  <a:pt x="318" y="375"/>
                  <a:pt x="324" y="369"/>
                </a:cubicBezTo>
                <a:lnTo>
                  <a:pt x="364" y="328"/>
                </a:lnTo>
                <a:cubicBezTo>
                  <a:pt x="378" y="316"/>
                  <a:pt x="377" y="294"/>
                  <a:pt x="362" y="283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063;p98">
            <a:extLst>
              <a:ext uri="{FF2B5EF4-FFF2-40B4-BE49-F238E27FC236}">
                <a16:creationId xmlns:a16="http://schemas.microsoft.com/office/drawing/2014/main" id="{0D69BA64-6551-1D47-B29B-DCBD8A41F41D}"/>
              </a:ext>
            </a:extLst>
          </p:cNvPr>
          <p:cNvSpPr>
            <a:spLocks noGrp="1"/>
          </p:cNvSpPr>
          <p:nvPr/>
        </p:nvSpPr>
        <p:spPr>
          <a:xfrm>
            <a:off x="786645" y="4137364"/>
            <a:ext cx="299727" cy="230084"/>
          </a:xfrm>
          <a:custGeom>
            <a:avLst/>
            <a:gdLst/>
            <a:ahLst/>
            <a:cxnLst/>
            <a:rect l="l" t="t" r="r" b="b"/>
            <a:pathLst>
              <a:path w="380" h="289">
                <a:moveTo>
                  <a:pt x="183" y="180"/>
                </a:moveTo>
                <a:cubicBezTo>
                  <a:pt x="188" y="184"/>
                  <a:pt x="195" y="184"/>
                  <a:pt x="199" y="180"/>
                </a:cubicBezTo>
                <a:lnTo>
                  <a:pt x="375" y="16"/>
                </a:lnTo>
                <a:cubicBezTo>
                  <a:pt x="379" y="10"/>
                  <a:pt x="378" y="0"/>
                  <a:pt x="366" y="0"/>
                </a:cubicBezTo>
                <a:lnTo>
                  <a:pt x="17" y="1"/>
                </a:lnTo>
                <a:cubicBezTo>
                  <a:pt x="8" y="1"/>
                  <a:pt x="0" y="9"/>
                  <a:pt x="7" y="17"/>
                </a:cubicBezTo>
                <a:lnTo>
                  <a:pt x="183" y="180"/>
                </a:lnTo>
                <a:close/>
                <a:moveTo>
                  <a:pt x="378" y="80"/>
                </a:moveTo>
                <a:cubicBezTo>
                  <a:pt x="378" y="72"/>
                  <a:pt x="369" y="68"/>
                  <a:pt x="363" y="73"/>
                </a:cubicBezTo>
                <a:lnTo>
                  <a:pt x="225" y="200"/>
                </a:lnTo>
                <a:cubicBezTo>
                  <a:pt x="216" y="209"/>
                  <a:pt x="204" y="213"/>
                  <a:pt x="191" y="213"/>
                </a:cubicBezTo>
                <a:cubicBezTo>
                  <a:pt x="179" y="213"/>
                  <a:pt x="167" y="209"/>
                  <a:pt x="158" y="201"/>
                </a:cubicBezTo>
                <a:lnTo>
                  <a:pt x="21" y="73"/>
                </a:lnTo>
                <a:cubicBezTo>
                  <a:pt x="15" y="68"/>
                  <a:pt x="5" y="72"/>
                  <a:pt x="5" y="80"/>
                </a:cubicBezTo>
                <a:cubicBezTo>
                  <a:pt x="5" y="115"/>
                  <a:pt x="5" y="210"/>
                  <a:pt x="5" y="257"/>
                </a:cubicBezTo>
                <a:cubicBezTo>
                  <a:pt x="5" y="274"/>
                  <a:pt x="19" y="288"/>
                  <a:pt x="36" y="288"/>
                </a:cubicBezTo>
                <a:lnTo>
                  <a:pt x="347" y="288"/>
                </a:lnTo>
                <a:cubicBezTo>
                  <a:pt x="364" y="288"/>
                  <a:pt x="378" y="274"/>
                  <a:pt x="378" y="257"/>
                </a:cubicBezTo>
                <a:lnTo>
                  <a:pt x="378" y="8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1234;p98">
            <a:extLst>
              <a:ext uri="{FF2B5EF4-FFF2-40B4-BE49-F238E27FC236}">
                <a16:creationId xmlns:a16="http://schemas.microsoft.com/office/drawing/2014/main" id="{1489A2A8-96C8-D24A-BA34-22BF5BDD01D1}"/>
              </a:ext>
            </a:extLst>
          </p:cNvPr>
          <p:cNvSpPr>
            <a:spLocks noGrp="1"/>
          </p:cNvSpPr>
          <p:nvPr/>
        </p:nvSpPr>
        <p:spPr>
          <a:xfrm>
            <a:off x="786643" y="4747608"/>
            <a:ext cx="296245" cy="296322"/>
          </a:xfrm>
          <a:custGeom>
            <a:avLst/>
            <a:gdLst/>
            <a:ahLst/>
            <a:cxnLst/>
            <a:rect l="l" t="t" r="r" b="b"/>
            <a:pathLst>
              <a:path w="375" h="375">
                <a:moveTo>
                  <a:pt x="187" y="0"/>
                </a:moveTo>
                <a:cubicBezTo>
                  <a:pt x="84" y="0"/>
                  <a:pt x="0" y="83"/>
                  <a:pt x="0" y="187"/>
                </a:cubicBezTo>
                <a:cubicBezTo>
                  <a:pt x="0" y="290"/>
                  <a:pt x="84" y="374"/>
                  <a:pt x="187" y="374"/>
                </a:cubicBezTo>
                <a:cubicBezTo>
                  <a:pt x="291" y="374"/>
                  <a:pt x="374" y="290"/>
                  <a:pt x="374" y="187"/>
                </a:cubicBezTo>
                <a:cubicBezTo>
                  <a:pt x="374" y="83"/>
                  <a:pt x="291" y="0"/>
                  <a:pt x="187" y="0"/>
                </a:cubicBezTo>
                <a:close/>
                <a:moveTo>
                  <a:pt x="211" y="267"/>
                </a:moveTo>
                <a:cubicBezTo>
                  <a:pt x="199" y="279"/>
                  <a:pt x="195" y="301"/>
                  <a:pt x="190" y="317"/>
                </a:cubicBezTo>
                <a:cubicBezTo>
                  <a:pt x="190" y="320"/>
                  <a:pt x="187" y="323"/>
                  <a:pt x="184" y="325"/>
                </a:cubicBezTo>
                <a:lnTo>
                  <a:pt x="176" y="328"/>
                </a:lnTo>
                <a:cubicBezTo>
                  <a:pt x="172" y="331"/>
                  <a:pt x="166" y="330"/>
                  <a:pt x="162" y="326"/>
                </a:cubicBezTo>
                <a:cubicBezTo>
                  <a:pt x="155" y="319"/>
                  <a:pt x="148" y="308"/>
                  <a:pt x="148" y="297"/>
                </a:cubicBezTo>
                <a:cubicBezTo>
                  <a:pt x="148" y="279"/>
                  <a:pt x="117" y="285"/>
                  <a:pt x="117" y="247"/>
                </a:cubicBezTo>
                <a:cubicBezTo>
                  <a:pt x="117" y="217"/>
                  <a:pt x="78" y="199"/>
                  <a:pt x="50" y="212"/>
                </a:cubicBezTo>
                <a:cubicBezTo>
                  <a:pt x="48" y="213"/>
                  <a:pt x="46" y="215"/>
                  <a:pt x="43" y="215"/>
                </a:cubicBezTo>
                <a:cubicBezTo>
                  <a:pt x="39" y="216"/>
                  <a:pt x="34" y="213"/>
                  <a:pt x="33" y="209"/>
                </a:cubicBezTo>
                <a:cubicBezTo>
                  <a:pt x="32" y="202"/>
                  <a:pt x="32" y="194"/>
                  <a:pt x="32" y="187"/>
                </a:cubicBezTo>
                <a:cubicBezTo>
                  <a:pt x="32" y="149"/>
                  <a:pt x="45" y="115"/>
                  <a:pt x="67" y="89"/>
                </a:cubicBezTo>
                <a:cubicBezTo>
                  <a:pt x="67" y="88"/>
                  <a:pt x="67" y="88"/>
                  <a:pt x="68" y="88"/>
                </a:cubicBezTo>
                <a:cubicBezTo>
                  <a:pt x="87" y="66"/>
                  <a:pt x="111" y="49"/>
                  <a:pt x="139" y="40"/>
                </a:cubicBezTo>
                <a:cubicBezTo>
                  <a:pt x="146" y="37"/>
                  <a:pt x="152" y="45"/>
                  <a:pt x="148" y="51"/>
                </a:cubicBezTo>
                <a:cubicBezTo>
                  <a:pt x="145" y="56"/>
                  <a:pt x="144" y="61"/>
                  <a:pt x="144" y="64"/>
                </a:cubicBezTo>
                <a:cubicBezTo>
                  <a:pt x="144" y="81"/>
                  <a:pt x="129" y="91"/>
                  <a:pt x="122" y="89"/>
                </a:cubicBezTo>
                <a:cubicBezTo>
                  <a:pt x="116" y="86"/>
                  <a:pt x="99" y="97"/>
                  <a:pt x="114" y="105"/>
                </a:cubicBezTo>
                <a:lnTo>
                  <a:pt x="123" y="109"/>
                </a:lnTo>
                <a:lnTo>
                  <a:pt x="124" y="110"/>
                </a:lnTo>
                <a:lnTo>
                  <a:pt x="127" y="111"/>
                </a:lnTo>
                <a:cubicBezTo>
                  <a:pt x="155" y="128"/>
                  <a:pt x="149" y="141"/>
                  <a:pt x="137" y="161"/>
                </a:cubicBezTo>
                <a:cubicBezTo>
                  <a:pt x="124" y="183"/>
                  <a:pt x="119" y="161"/>
                  <a:pt x="100" y="155"/>
                </a:cubicBezTo>
                <a:cubicBezTo>
                  <a:pt x="81" y="149"/>
                  <a:pt x="63" y="160"/>
                  <a:pt x="69" y="173"/>
                </a:cubicBezTo>
                <a:cubicBezTo>
                  <a:pt x="75" y="185"/>
                  <a:pt x="94" y="173"/>
                  <a:pt x="106" y="186"/>
                </a:cubicBezTo>
                <a:cubicBezTo>
                  <a:pt x="119" y="198"/>
                  <a:pt x="119" y="217"/>
                  <a:pt x="156" y="205"/>
                </a:cubicBezTo>
                <a:cubicBezTo>
                  <a:pt x="194" y="192"/>
                  <a:pt x="200" y="198"/>
                  <a:pt x="212" y="211"/>
                </a:cubicBezTo>
                <a:cubicBezTo>
                  <a:pt x="223" y="223"/>
                  <a:pt x="229" y="248"/>
                  <a:pt x="211" y="267"/>
                </a:cubicBezTo>
                <a:close/>
                <a:moveTo>
                  <a:pt x="310" y="265"/>
                </a:moveTo>
                <a:cubicBezTo>
                  <a:pt x="295" y="248"/>
                  <a:pt x="310" y="209"/>
                  <a:pt x="292" y="186"/>
                </a:cubicBezTo>
                <a:cubicBezTo>
                  <a:pt x="272" y="162"/>
                  <a:pt x="247" y="187"/>
                  <a:pt x="223" y="149"/>
                </a:cubicBezTo>
                <a:cubicBezTo>
                  <a:pt x="201" y="112"/>
                  <a:pt x="229" y="82"/>
                  <a:pt x="259" y="71"/>
                </a:cubicBezTo>
                <a:cubicBezTo>
                  <a:pt x="267" y="68"/>
                  <a:pt x="275" y="68"/>
                  <a:pt x="284" y="68"/>
                </a:cubicBezTo>
                <a:cubicBezTo>
                  <a:pt x="285" y="68"/>
                  <a:pt x="288" y="68"/>
                  <a:pt x="289" y="70"/>
                </a:cubicBezTo>
                <a:cubicBezTo>
                  <a:pt x="322" y="98"/>
                  <a:pt x="343" y="140"/>
                  <a:pt x="343" y="187"/>
                </a:cubicBezTo>
                <a:cubicBezTo>
                  <a:pt x="343" y="215"/>
                  <a:pt x="335" y="241"/>
                  <a:pt x="323" y="264"/>
                </a:cubicBezTo>
                <a:cubicBezTo>
                  <a:pt x="320" y="268"/>
                  <a:pt x="313" y="269"/>
                  <a:pt x="310" y="26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1349;p98">
            <a:extLst>
              <a:ext uri="{FF2B5EF4-FFF2-40B4-BE49-F238E27FC236}">
                <a16:creationId xmlns:a16="http://schemas.microsoft.com/office/drawing/2014/main" id="{3B508AE4-6F9D-4D49-ADD2-92996C3D9AB7}"/>
              </a:ext>
            </a:extLst>
          </p:cNvPr>
          <p:cNvSpPr>
            <a:spLocks noGrp="1"/>
          </p:cNvSpPr>
          <p:nvPr/>
        </p:nvSpPr>
        <p:spPr>
          <a:xfrm>
            <a:off x="800925" y="3401692"/>
            <a:ext cx="264875" cy="362557"/>
          </a:xfrm>
          <a:custGeom>
            <a:avLst/>
            <a:gdLst/>
            <a:ahLst/>
            <a:cxnLst/>
            <a:rect l="l" t="t" r="r" b="b"/>
            <a:pathLst>
              <a:path w="335" h="460">
                <a:moveTo>
                  <a:pt x="167" y="0"/>
                </a:moveTo>
                <a:cubicBezTo>
                  <a:pt x="74" y="0"/>
                  <a:pt x="0" y="76"/>
                  <a:pt x="0" y="169"/>
                </a:cubicBezTo>
                <a:cubicBezTo>
                  <a:pt x="0" y="306"/>
                  <a:pt x="167" y="459"/>
                  <a:pt x="167" y="459"/>
                </a:cubicBezTo>
                <a:cubicBezTo>
                  <a:pt x="167" y="459"/>
                  <a:pt x="334" y="299"/>
                  <a:pt x="334" y="169"/>
                </a:cubicBezTo>
                <a:cubicBezTo>
                  <a:pt x="334" y="76"/>
                  <a:pt x="260" y="0"/>
                  <a:pt x="167" y="0"/>
                </a:cubicBezTo>
                <a:close/>
                <a:moveTo>
                  <a:pt x="167" y="242"/>
                </a:moveTo>
                <a:cubicBezTo>
                  <a:pt x="138" y="242"/>
                  <a:pt x="112" y="225"/>
                  <a:pt x="100" y="197"/>
                </a:cubicBezTo>
                <a:cubicBezTo>
                  <a:pt x="88" y="170"/>
                  <a:pt x="95" y="139"/>
                  <a:pt x="115" y="119"/>
                </a:cubicBezTo>
                <a:cubicBezTo>
                  <a:pt x="136" y="98"/>
                  <a:pt x="167" y="91"/>
                  <a:pt x="194" y="102"/>
                </a:cubicBezTo>
                <a:cubicBezTo>
                  <a:pt x="221" y="113"/>
                  <a:pt x="239" y="140"/>
                  <a:pt x="239" y="169"/>
                </a:cubicBezTo>
                <a:cubicBezTo>
                  <a:pt x="239" y="208"/>
                  <a:pt x="207" y="241"/>
                  <a:pt x="167" y="24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DE932EE-54AD-DF4F-8330-463839436778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297156" y="2654243"/>
            <a:ext cx="9875669" cy="448844"/>
          </a:xfrm>
        </p:spPr>
        <p:txBody>
          <a:bodyPr anchor="ctr"/>
          <a:lstStyle>
            <a:lvl1pPr marL="0" indent="0" algn="l">
              <a:buNone/>
              <a:defRPr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>
            <a:pPr>
              <a:buNone/>
            </a:pPr>
            <a:r>
              <a:t>Phone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84945B78-FF50-A04E-A571-C6082B17CF0D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1297156" y="3379173"/>
            <a:ext cx="9875669" cy="448844"/>
          </a:xfrm>
        </p:spPr>
        <p:txBody>
          <a:bodyPr anchor="ctr"/>
          <a:lstStyle>
            <a:lvl1pPr marL="0" indent="0" algn="l">
              <a:buNone/>
              <a:defRPr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>
            <a:pPr>
              <a:buNone/>
            </a:pPr>
            <a:r>
              <a:t>Address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7F42F73A-EB54-2646-969C-8808E8523DC8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1297156" y="4021724"/>
            <a:ext cx="9875669" cy="448844"/>
          </a:xfrm>
        </p:spPr>
        <p:txBody>
          <a:bodyPr anchor="ctr"/>
          <a:lstStyle>
            <a:lvl1pPr marL="0" indent="0" algn="l">
              <a:buNone/>
              <a:defRPr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>
            <a:pPr>
              <a:buNone/>
            </a:pPr>
            <a:r>
              <a:t>Email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1DC73DA6-C635-B24C-88FB-DB6782AC6746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297156" y="4680751"/>
            <a:ext cx="9875669" cy="448844"/>
          </a:xfrm>
        </p:spPr>
        <p:txBody>
          <a:bodyPr anchor="ctr"/>
          <a:lstStyle>
            <a:lvl1pPr marL="0" indent="0" algn="l">
              <a:buNone/>
              <a:defRPr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>
            <a:pPr>
              <a:buNone/>
            </a:pPr>
            <a:r>
              <a:t>Website</a:t>
            </a:r>
          </a:p>
        </p:txBody>
      </p:sp>
      <p:sp>
        <p:nvSpPr>
          <p:cNvPr id="32" name="Straight Connector 31">
            <a:extLst>
              <a:ext uri="{FF2B5EF4-FFF2-40B4-BE49-F238E27FC236}">
                <a16:creationId xmlns:a16="http://schemas.microsoft.com/office/drawing/2014/main" id="{BA615FCF-0296-4220-BE7B-F766AFE6CD95}"/>
              </a:ext>
            </a:extLst>
          </p:cNvPr>
          <p:cNvSpPr>
            <a:spLocks noGrp="1"/>
          </p:cNvSpPr>
          <p:nvPr/>
        </p:nvSpPr>
        <p:spPr>
          <a:xfrm>
            <a:off x="536360" y="2520071"/>
            <a:ext cx="0" cy="268330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>
            <a:spLocks noGrp="1"/>
          </p:cNvSpPr>
          <p:nvPr/>
        </p:nvSpPr>
        <p:spPr>
          <a:xfrm>
            <a:off x="10519111" y="6593168"/>
            <a:ext cx="1136530" cy="10772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buNone/>
            </a:pPr>
            <a:r>
              <a:rPr sz="700" b="0" i="0">
                <a:solidFill>
                  <a:schemeClr val="bg1"/>
                </a:solidFill>
                <a:latin typeface="Arial"/>
                <a:ea typeface="Arial"/>
                <a:cs typeface="Arial"/>
              </a:rPr>
              <a:t>© UAB. All Rights Reserved.</a:t>
            </a:r>
          </a:p>
        </p:txBody>
      </p:sp>
      <p:pic>
        <p:nvPicPr>
          <p:cNvPr id="34" name="Graphic 7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36359" y="6532449"/>
            <a:ext cx="1763519" cy="3492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ing Slide - Badge - UAB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buNone/>
              <a:defRPr sz="6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Thank you!</a:t>
            </a:r>
          </a:p>
        </p:txBody>
      </p:sp>
      <p:pic>
        <p:nvPicPr>
          <p:cNvPr id="9" name="Graphic 8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96569" y="879431"/>
            <a:ext cx="4615489" cy="913959"/>
          </a:xfrm>
          <a:prstGeom prst="rect">
            <a:avLst/>
          </a:prstGeom>
        </p:spPr>
      </p:pic>
      <p:pic>
        <p:nvPicPr>
          <p:cNvPr id="10" name="Graphic 14"/>
          <p:cNvPicPr>
            <a:picLocks noChangeAspect="1"/>
          </p:cNvPicPr>
          <p:nvPr/>
        </p:nvPicPr>
        <p:blipFill>
          <a:blip r:embed="rId3">
            <a:alphaModFix amt="8000"/>
          </a:blip>
          <a:srcRect t="10829" b="10829"/>
          <a:stretch/>
        </p:blipFill>
        <p:spPr>
          <a:xfrm>
            <a:off x="3285377" y="0"/>
            <a:ext cx="9186843" cy="7197213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ing Slide - Badge - Dragon's La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buNone/>
              <a:defRPr sz="6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Thank you!</a:t>
            </a:r>
          </a:p>
        </p:txBody>
      </p:sp>
      <p:pic>
        <p:nvPicPr>
          <p:cNvPr id="9" name="Graphic 8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96569" y="879431"/>
            <a:ext cx="4615489" cy="913959"/>
          </a:xfrm>
          <a:prstGeom prst="rect">
            <a:avLst/>
          </a:prstGeom>
        </p:spPr>
      </p:pic>
      <p:pic>
        <p:nvPicPr>
          <p:cNvPr id="10" name="Graphic 14"/>
          <p:cNvPicPr>
            <a:picLocks noChangeAspect="1"/>
          </p:cNvPicPr>
          <p:nvPr/>
        </p:nvPicPr>
        <p:blipFill>
          <a:blip r:embed="rId3">
            <a:alphaModFix amt="8000"/>
          </a:blip>
          <a:srcRect t="10829" b="10829"/>
          <a:stretch/>
        </p:blipFill>
        <p:spPr>
          <a:xfrm>
            <a:off x="3285377" y="0"/>
            <a:ext cx="9186843" cy="7197213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ing Slide - Monogram Pattern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B66C486-2870-708F-E70D-D2D0C47B99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buNone/>
              <a:defRPr sz="6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Thank you!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41A9B5-3FA5-7785-AF5A-0A412B1AFDA1}"/>
              </a:ext>
            </a:extLst>
          </p:cNvPr>
          <p:cNvSpPr>
            <a:spLocks noGrp="1"/>
          </p:cNvSpPr>
          <p:nvPr/>
        </p:nvSpPr>
        <p:spPr>
          <a:xfrm>
            <a:off x="7048500" y="5772150"/>
            <a:ext cx="5143500" cy="1085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6" name="Graphic 8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2505" y="6099234"/>
            <a:ext cx="4615489" cy="913959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DCD225-A513-DC4E-A674-AF41913CE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60" y="476722"/>
            <a:ext cx="10573597" cy="768545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B951A1-488D-7348-8268-C07AC9E26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6361" y="1645670"/>
            <a:ext cx="11119283" cy="4351338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753CCB-6D68-7E4F-88D7-3EF0427B1BE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2"/>
                </a:solidFill>
              </a:defRPr>
            </a:lvl1pPr>
          </a:lstStyle>
          <a:p>
            <a:fld id="{A9E4AF24-435A-324D-AE4F-BC2934A4F18C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hf hdr="0" dt="0"/>
  <p:txStyles>
    <p:titleStyle>
      <a:lvl1pPr algn="l">
        <a:lnSpc>
          <a:spcPct val="90000"/>
        </a:lnSpc>
        <a:spcBef>
          <a:spcPts val="0"/>
        </a:spcBef>
        <a:buNone/>
        <a:defRPr sz="3600" b="0" i="0">
          <a:solidFill>
            <a:schemeClr val="accent1"/>
          </a:solidFill>
          <a:latin typeface="Arial"/>
          <a:ea typeface="Arial"/>
          <a:cs typeface="Arial"/>
        </a:defRPr>
      </a:lvl1pPr>
    </p:titleStyle>
    <p:bodyStyle>
      <a:lvl1pPr marL="228589" indent="-228589" algn="l">
        <a:lnSpc>
          <a:spcPct val="90000"/>
        </a:lnSpc>
        <a:spcBef>
          <a:spcPts val="1000"/>
        </a:spcBef>
        <a:buChar char="•"/>
        <a:defRPr sz="2400" b="0" i="0">
          <a:solidFill>
            <a:schemeClr val="tx1"/>
          </a:solidFill>
          <a:latin typeface="Arial"/>
          <a:ea typeface="Arial"/>
          <a:cs typeface="Arial"/>
        </a:defRPr>
      </a:lvl1pPr>
      <a:lvl2pPr marL="685766" indent="-228589" algn="l">
        <a:lnSpc>
          <a:spcPct val="90000"/>
        </a:lnSpc>
        <a:spcBef>
          <a:spcPts val="500"/>
        </a:spcBef>
        <a:buChar char="•"/>
        <a:defRPr sz="2000" b="0" i="0">
          <a:solidFill>
            <a:schemeClr val="tx1"/>
          </a:solidFill>
          <a:latin typeface="Arial"/>
          <a:ea typeface="Arial"/>
          <a:cs typeface="Arial"/>
        </a:defRPr>
      </a:lvl2pPr>
      <a:lvl3pPr marL="1142942" indent="-228589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Arial"/>
          <a:ea typeface="Arial"/>
          <a:cs typeface="Arial"/>
        </a:defRPr>
      </a:lvl3pPr>
      <a:lvl4pPr marL="1600120" indent="-228589" algn="l">
        <a:lnSpc>
          <a:spcPct val="90000"/>
        </a:lnSpc>
        <a:spcBef>
          <a:spcPts val="500"/>
        </a:spcBef>
        <a:buChar char="•"/>
        <a:defRPr sz="1600" b="0" i="0">
          <a:solidFill>
            <a:schemeClr val="tx1"/>
          </a:solidFill>
          <a:latin typeface="Arial"/>
          <a:ea typeface="Arial"/>
          <a:cs typeface="Arial"/>
        </a:defRPr>
      </a:lvl4pPr>
      <a:lvl5pPr marL="2057298" indent="-228589" algn="l">
        <a:lnSpc>
          <a:spcPct val="90000"/>
        </a:lnSpc>
        <a:spcBef>
          <a:spcPts val="500"/>
        </a:spcBef>
        <a:buChar char="•"/>
        <a:defRPr sz="1600" b="0" i="0">
          <a:solidFill>
            <a:schemeClr val="tx1"/>
          </a:solidFill>
          <a:latin typeface="Arial"/>
          <a:ea typeface="Arial"/>
          <a:cs typeface="Arial"/>
        </a:defRPr>
      </a:lvl5pPr>
      <a:lvl6pPr marL="2514474" indent="-228589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652" indent="-228589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8829" indent="-228589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006" indent="-228589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178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354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532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709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5886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062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24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418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.org/doi/10.1126/science.ads9145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BCC7BC29-5BA1-8E75-1DC3-926CBEDF20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985885"/>
            <a:ext cx="9615376" cy="1026137"/>
          </a:xfrm>
        </p:spPr>
        <p:txBody>
          <a:bodyPr>
            <a:normAutofit/>
          </a:bodyPr>
          <a:lstStyle/>
          <a:p>
            <a:r>
              <a:rPr dirty="0"/>
              <a:t>Arash </a:t>
            </a:r>
            <a:r>
              <a:rPr dirty="0" err="1"/>
              <a:t>Bagherabadi</a:t>
            </a:r>
            <a:endParaRPr dirty="0"/>
          </a:p>
          <a:p>
            <a:r>
              <a:rPr lang="en-US" dirty="0"/>
              <a:t>Aug</a:t>
            </a:r>
            <a:r>
              <a:rPr dirty="0"/>
              <a:t> </a:t>
            </a:r>
            <a:r>
              <a:rPr lang="en-US" dirty="0"/>
              <a:t>19</a:t>
            </a:r>
            <a:r>
              <a:rPr dirty="0"/>
              <a:t>, 2026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54EF87-A587-D068-B5A6-48B80046D2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876586"/>
            <a:ext cx="11167730" cy="1738484"/>
          </a:xfrm>
        </p:spPr>
        <p:txBody>
          <a:bodyPr>
            <a:normAutofit/>
          </a:bodyPr>
          <a:lstStyle/>
          <a:p>
            <a:r>
              <a:rPr sz="4000" dirty="0" err="1"/>
              <a:t>scTalk</a:t>
            </a:r>
            <a:r>
              <a:rPr sz="4000" dirty="0"/>
              <a:t> </a:t>
            </a:r>
            <a:r>
              <a:rPr lang="en-US" sz="4000" dirty="0"/>
              <a:t>7</a:t>
            </a:r>
            <a:r>
              <a:rPr sz="4000" dirty="0"/>
              <a:t>: </a:t>
            </a:r>
            <a:r>
              <a:rPr lang="en-US" sz="4000" dirty="0" err="1"/>
              <a:t>scCODA</a:t>
            </a:r>
            <a:r>
              <a:rPr lang="en-US" sz="4000" dirty="0"/>
              <a:t> </a:t>
            </a:r>
            <a:br>
              <a:rPr lang="en-US" sz="4000" dirty="0"/>
            </a:br>
            <a:r>
              <a:rPr lang="en-US" sz="4000" dirty="0"/>
              <a:t>(Einstein Was Right, Cell Types Are Relative)</a:t>
            </a:r>
            <a:endParaRPr sz="4000" dirty="0"/>
          </a:p>
        </p:txBody>
      </p:sp>
      <p:pic>
        <p:nvPicPr>
          <p:cNvPr id="7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8884" y="621659"/>
            <a:ext cx="2331136" cy="1061091"/>
          </a:xfrm>
          <a:prstGeom prst="rect">
            <a:avLst/>
          </a:prstGeom>
        </p:spPr>
      </p:pic>
      <p:pic>
        <p:nvPicPr>
          <p:cNvPr id="8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8783" y="2810216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877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F80DF1A-1594-2EEE-1810-A7AB42976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487" y="1916010"/>
            <a:ext cx="4995760" cy="41604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b="1"/>
              <a:t>Single-cell Journal Club Series</a:t>
            </a:r>
          </a:p>
          <a:p>
            <a:r>
              <a:t>Break down key/new papers</a:t>
            </a:r>
          </a:p>
          <a:p>
            <a:r>
              <a:t>Shared standards and critical thinking in analysis</a:t>
            </a:r>
          </a:p>
          <a:p>
            <a:r>
              <a:t>Open questions, interruptions, and debate encouraged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0F914A2-3A10-F736-6DE8-9F8A01367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487" y="499245"/>
            <a:ext cx="3408639" cy="768545"/>
          </a:xfrm>
        </p:spPr>
        <p:txBody>
          <a:bodyPr anchor="ctr">
            <a:normAutofit/>
          </a:bodyPr>
          <a:lstStyle/>
          <a:p>
            <a:r>
              <a:rPr sz="4800"/>
              <a:t>scTalk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E87F7-3329-D684-865D-22E9ED8952E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70781" y="570009"/>
            <a:ext cx="30413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buNone/>
            </a:pPr>
            <a:fld id="{54797FC3-DC33-DA47-95F6-F7EB925D69E8}" type="slidenum">
              <a:rPr/>
              <a:t>2</a:t>
            </a:fld>
            <a:endParaRPr/>
          </a:p>
        </p:txBody>
      </p:sp>
      <p:pic>
        <p:nvPicPr>
          <p:cNvPr id="1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1686" y="1245267"/>
            <a:ext cx="3801139" cy="38011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860A90-8441-90A5-2BA0-EEEA857A60C5}"/>
              </a:ext>
            </a:extLst>
          </p:cNvPr>
          <p:cNvSpPr>
            <a:spLocks noGrp="1"/>
          </p:cNvSpPr>
          <p:nvPr/>
        </p:nvSpPr>
        <p:spPr>
          <a:xfrm>
            <a:off x="7371684" y="5245438"/>
            <a:ext cx="39389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400" b="1">
                <a:solidFill>
                  <a:srgbClr val="17417E"/>
                </a:solidFill>
              </a:rPr>
              <a:t>Please Sign-in + Comments &amp; Questions</a:t>
            </a:r>
          </a:p>
        </p:txBody>
      </p:sp>
    </p:spTree>
    <p:extLst>
      <p:ext uri="{BB962C8B-B14F-4D97-AF65-F5344CB8AC3E}">
        <p14:creationId xmlns:p14="http://schemas.microsoft.com/office/powerpoint/2010/main" val="3571639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2F76C-6C2C-391A-E6A4-F9421DDDA63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70781" y="570009"/>
            <a:ext cx="30413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buNone/>
            </a:pPr>
            <a:fld id="{54797FC3-DC33-DA47-95F6-F7EB925D69E8}" type="slidenum">
              <a:rPr/>
              <a:t>3</a:t>
            </a:fld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EF9A96-BA66-CBA5-B0D9-EEC4A9AC40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677659"/>
            <a:ext cx="7772400" cy="5502682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EA4BDC2-12E6-BDFB-E051-183C6B7B2581}"/>
              </a:ext>
            </a:extLst>
          </p:cNvPr>
          <p:cNvSpPr>
            <a:spLocks noGrp="1"/>
          </p:cNvSpPr>
          <p:nvPr/>
        </p:nvSpPr>
        <p:spPr>
          <a:xfrm>
            <a:off x="5155475" y="2775857"/>
            <a:ext cx="1645919" cy="28161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 defTabSz="914400" rtl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1178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47700-9D17-1680-3240-947040E62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AB298-07EE-F50E-4A22-75F3502311B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70781" y="570009"/>
            <a:ext cx="30413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buNone/>
            </a:pPr>
            <a:fld id="{54797FC3-DC33-DA47-95F6-F7EB925D69E8}" type="slidenum">
              <a:rPr/>
              <a:t>4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7FA83E-5B96-3B50-5A6A-91C52BDA1E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3959" y="0"/>
            <a:ext cx="4884082" cy="6308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013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E7409-671E-016E-8546-E8DC17CD6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346BEE-F79C-B19A-E6DF-587DF91108A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70781" y="570009"/>
            <a:ext cx="30413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buNone/>
            </a:pPr>
            <a:fld id="{54797FC3-DC33-DA47-95F6-F7EB925D69E8}" type="slidenum">
              <a:rPr/>
              <a:t>5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1AF0B0-BDDE-8046-8FD6-861D823CAC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6"/>
          <a:stretch>
            <a:fillRect/>
          </a:stretch>
        </p:blipFill>
        <p:spPr>
          <a:xfrm>
            <a:off x="286602" y="265793"/>
            <a:ext cx="10863619" cy="593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286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6C478-011A-22A1-C98F-4BB5791E2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1332D6-8F3A-E69F-8208-1265114255F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70781" y="570009"/>
            <a:ext cx="30413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buNone/>
            </a:pPr>
            <a:fld id="{54797FC3-DC33-DA47-95F6-F7EB925D69E8}" type="slidenum">
              <a:rPr/>
              <a:t>6</a:t>
            </a:fld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58B6EB-BD65-B186-F79A-5583A11F10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262" y="0"/>
            <a:ext cx="9603475" cy="6402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445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0FF25-B612-7AC3-7C83-53539B336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0BB53-2CFD-6A07-D7F3-FACD40119F1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70781" y="570009"/>
            <a:ext cx="30413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buNone/>
            </a:pPr>
            <a:fld id="{54797FC3-DC33-DA47-95F6-F7EB925D69E8}" type="slidenum">
              <a:rPr/>
              <a:t>7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203BFF-CDA6-E67B-62F6-EF0346328A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088" y="294373"/>
            <a:ext cx="10683381" cy="600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8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840CE-84A1-C33E-FA13-744181698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66CD59-1A66-3354-1234-7FFB05ED0C9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70781" y="570009"/>
            <a:ext cx="30413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buNone/>
            </a:pPr>
            <a:fld id="{54797FC3-DC33-DA47-95F6-F7EB925D69E8}" type="slidenum">
              <a:rPr/>
              <a:t>8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49DFF0-CF59-98CE-D24D-D0941FAD97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4190" y="177421"/>
            <a:ext cx="4423620" cy="608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127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1196D6-C94F-A829-AAAE-7EF6D9BD1EC2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54797FC3-DC33-DA47-95F6-F7EB925D69E8}" type="slidenum">
              <a:rPr lang="en-US" smtClean="0"/>
              <a:t>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0599496-BD27-CAB1-78B6-3D93436FB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60" y="3044727"/>
            <a:ext cx="10573597" cy="768545"/>
          </a:xfrm>
        </p:spPr>
        <p:txBody>
          <a:bodyPr>
            <a:normAutofit/>
          </a:bodyPr>
          <a:lstStyle/>
          <a:p>
            <a:r>
              <a:rPr lang="en-US" sz="4800" dirty="0"/>
              <a:t>How to visualize the results?</a:t>
            </a:r>
          </a:p>
        </p:txBody>
      </p:sp>
    </p:spTree>
    <p:extLst>
      <p:ext uri="{BB962C8B-B14F-4D97-AF65-F5344CB8AC3E}">
        <p14:creationId xmlns:p14="http://schemas.microsoft.com/office/powerpoint/2010/main" val="2376989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B5F5C-2B15-AF1C-5F8B-4AF604CE4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84B0E-069F-DB84-5826-C18F1CD744C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70781" y="570009"/>
            <a:ext cx="30413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buNone/>
            </a:pPr>
            <a:fld id="{54797FC3-DC33-DA47-95F6-F7EB925D69E8}" type="slidenum">
              <a:rPr/>
              <a:t>10</a:t>
            </a:fld>
            <a:endParaRPr/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5F749470-8A26-A9F6-C3AA-DCF81B817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60" y="476722"/>
            <a:ext cx="10573597" cy="768545"/>
          </a:xfrm>
        </p:spPr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FixNCut</a:t>
            </a:r>
            <a:r>
              <a:rPr lang="en-US" dirty="0"/>
              <a:t> — </a:t>
            </a:r>
            <a:r>
              <a:rPr lang="en-US" dirty="0" err="1"/>
              <a:t>scCODA</a:t>
            </a:r>
            <a:r>
              <a:rPr lang="en-US" dirty="0"/>
              <a:t> compositional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256684-8685-5E1A-79E2-0CF9D3E743BA}"/>
              </a:ext>
            </a:extLst>
          </p:cNvPr>
          <p:cNvSpPr txBox="1"/>
          <p:nvPr/>
        </p:nvSpPr>
        <p:spPr>
          <a:xfrm>
            <a:off x="3058610" y="1596809"/>
            <a:ext cx="611722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Figure 2h — Mouse lung</a:t>
            </a:r>
            <a:br>
              <a:rPr lang="en-US" dirty="0"/>
            </a:br>
            <a:r>
              <a:rPr lang="en-US" dirty="0" err="1"/>
              <a:t>بالای</a:t>
            </a:r>
            <a:r>
              <a:rPr lang="en-US" dirty="0"/>
              <a:t> panel </a:t>
            </a:r>
            <a:r>
              <a:rPr lang="en-US" dirty="0" err="1"/>
              <a:t>تفاوت</a:t>
            </a:r>
            <a:r>
              <a:rPr lang="en-US" dirty="0"/>
              <a:t> observed cell-type proportions </a:t>
            </a:r>
            <a:r>
              <a:rPr lang="en-US" dirty="0" err="1"/>
              <a:t>بین</a:t>
            </a:r>
            <a:r>
              <a:rPr lang="en-US" dirty="0"/>
              <a:t> fresh </a:t>
            </a:r>
            <a:r>
              <a:rPr lang="en-US" dirty="0" err="1"/>
              <a:t>و</a:t>
            </a:r>
            <a:r>
              <a:rPr lang="en-US" dirty="0"/>
              <a:t> fixed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نشان</a:t>
            </a:r>
            <a:r>
              <a:rPr lang="en-US" dirty="0"/>
              <a:t> </a:t>
            </a:r>
            <a:r>
              <a:rPr lang="en-US" dirty="0" err="1"/>
              <a:t>می‌دهد</a:t>
            </a:r>
            <a:r>
              <a:rPr lang="en-US" dirty="0"/>
              <a:t> </a:t>
            </a:r>
            <a:r>
              <a:rPr lang="en-US" dirty="0" err="1"/>
              <a:t>و</a:t>
            </a:r>
            <a:r>
              <a:rPr lang="en-US" dirty="0"/>
              <a:t> </a:t>
            </a:r>
            <a:r>
              <a:rPr lang="en-US" dirty="0" err="1"/>
              <a:t>پایین</a:t>
            </a:r>
            <a:r>
              <a:rPr lang="en-US" dirty="0"/>
              <a:t> </a:t>
            </a:r>
            <a:r>
              <a:rPr lang="en-US" dirty="0" err="1"/>
              <a:t>همان</a:t>
            </a:r>
            <a:r>
              <a:rPr lang="en-US" dirty="0"/>
              <a:t> panel </a:t>
            </a:r>
            <a:r>
              <a:rPr lang="en-US" dirty="0" err="1"/>
              <a:t>نتیجه‌ی</a:t>
            </a:r>
            <a:r>
              <a:rPr lang="en-US" dirty="0"/>
              <a:t> compositional analysis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scCODA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؛ </a:t>
            </a:r>
            <a:r>
              <a:rPr lang="en-US" dirty="0">
                <a:latin typeface="+mn-lt"/>
              </a:rPr>
              <a:t>*</a:t>
            </a:r>
            <a:r>
              <a:rPr lang="en-US" dirty="0"/>
              <a:t> </a:t>
            </a:r>
            <a:r>
              <a:rPr lang="en-US" dirty="0" err="1"/>
              <a:t>یعنی</a:t>
            </a:r>
            <a:r>
              <a:rPr lang="en-US" dirty="0"/>
              <a:t> credible compositional change.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Observed cell-type proportions were compared directly between fresh and fixed tissue preparations.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 err="1"/>
              <a:t>scCODA</a:t>
            </a:r>
            <a:r>
              <a:rPr lang="en-US" b="1" dirty="0"/>
              <a:t> identified which apparent shifts remained credible after accounting for the compositional structure of the data.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dirty="0" err="1"/>
              <a:t>همین</a:t>
            </a:r>
            <a:r>
              <a:rPr lang="en-US" dirty="0"/>
              <a:t> </a:t>
            </a:r>
            <a:r>
              <a:rPr lang="en-US" dirty="0" err="1"/>
              <a:t>طراحی</a:t>
            </a:r>
            <a:r>
              <a:rPr lang="en-US" dirty="0"/>
              <a:t>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b="1" dirty="0"/>
              <a:t>Fig. 3h </a:t>
            </a:r>
            <a:r>
              <a:rPr lang="en-US" b="1" dirty="0" err="1"/>
              <a:t>برای</a:t>
            </a:r>
            <a:r>
              <a:rPr lang="en-US" b="1" dirty="0"/>
              <a:t> mouse colon</a:t>
            </a:r>
            <a:r>
              <a:rPr lang="en-US" dirty="0"/>
              <a:t> </a:t>
            </a:r>
            <a:r>
              <a:rPr lang="en-US" dirty="0" err="1"/>
              <a:t>و</a:t>
            </a:r>
            <a:r>
              <a:rPr lang="en-US" dirty="0"/>
              <a:t> </a:t>
            </a:r>
            <a:r>
              <a:rPr lang="en-US" b="1" dirty="0"/>
              <a:t>Fig. 6h </a:t>
            </a:r>
            <a:r>
              <a:rPr lang="en-US" b="1" dirty="0" err="1"/>
              <a:t>برای</a:t>
            </a:r>
            <a:r>
              <a:rPr lang="en-US" b="1" dirty="0"/>
              <a:t> human colon</a:t>
            </a:r>
            <a:r>
              <a:rPr lang="en-US" dirty="0"/>
              <a:t> </a:t>
            </a:r>
            <a:r>
              <a:rPr lang="en-US" dirty="0" err="1"/>
              <a:t>هم</a:t>
            </a:r>
            <a:r>
              <a:rPr lang="en-US" dirty="0"/>
              <a:t> </a:t>
            </a:r>
            <a:r>
              <a:rPr lang="en-US" dirty="0" err="1"/>
              <a:t>تکرار</a:t>
            </a:r>
            <a:r>
              <a:rPr lang="en-US" dirty="0"/>
              <a:t> </a:t>
            </a:r>
            <a:r>
              <a:rPr lang="en-US" dirty="0" err="1"/>
              <a:t>شده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81995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1C95D-6992-62D6-429F-CE15E1501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3BF0E-9A3A-C894-1FCF-C4ABDEAD993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70781" y="570009"/>
            <a:ext cx="30413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buNone/>
            </a:pPr>
            <a:fld id="{54797FC3-DC33-DA47-95F6-F7EB925D69E8}" type="slidenum">
              <a:rPr/>
              <a:t>11</a:t>
            </a:fld>
            <a:endParaRPr/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2A43A7E9-DA98-9135-B381-D29312C13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60" y="476722"/>
            <a:ext cx="10573597" cy="768545"/>
          </a:xfrm>
        </p:spPr>
        <p:txBody>
          <a:bodyPr>
            <a:normAutofit fontScale="90000"/>
          </a:bodyPr>
          <a:lstStyle/>
          <a:p>
            <a:r>
              <a:rPr lang="en-US" dirty="0"/>
              <a:t>2. Aberrant basal cell clonal dynamics — Science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E49422-0D42-D793-B7C8-B3206A3DDFE6}"/>
              </a:ext>
            </a:extLst>
          </p:cNvPr>
          <p:cNvSpPr txBox="1"/>
          <p:nvPr/>
        </p:nvSpPr>
        <p:spPr>
          <a:xfrm>
            <a:off x="3058610" y="1596809"/>
            <a:ext cx="611722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Figure 3D–E</a:t>
            </a:r>
            <a:endParaRPr lang="en-US" dirty="0"/>
          </a:p>
          <a:p>
            <a:pPr>
              <a:buNone/>
            </a:pPr>
            <a:r>
              <a:rPr lang="en-US" b="1" dirty="0"/>
              <a:t>Fig. 3D:</a:t>
            </a:r>
            <a:r>
              <a:rPr lang="en-US" dirty="0"/>
              <a:t> stacked </a:t>
            </a:r>
            <a:r>
              <a:rPr lang="en-US" dirty="0" err="1"/>
              <a:t>barplot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relative abundance </a:t>
            </a:r>
            <a:r>
              <a:rPr lang="en-US" dirty="0" err="1"/>
              <a:t>انواع</a:t>
            </a:r>
            <a:r>
              <a:rPr lang="en-US" dirty="0"/>
              <a:t> epithelial cells </a:t>
            </a:r>
            <a:r>
              <a:rPr lang="en-US" dirty="0" err="1"/>
              <a:t>در</a:t>
            </a:r>
            <a:r>
              <a:rPr lang="en-US" dirty="0"/>
              <a:t> Control </a:t>
            </a:r>
            <a:r>
              <a:rPr lang="en-US" dirty="0" err="1"/>
              <a:t>و</a:t>
            </a:r>
            <a:r>
              <a:rPr lang="en-US" dirty="0"/>
              <a:t> NTCU-treated.</a:t>
            </a:r>
            <a:br>
              <a:rPr lang="en-US" dirty="0"/>
            </a:br>
            <a:r>
              <a:rPr lang="en-US" b="1" dirty="0"/>
              <a:t>Fig. 3E:</a:t>
            </a:r>
            <a:r>
              <a:rPr lang="en-US" dirty="0"/>
              <a:t> </a:t>
            </a:r>
            <a:r>
              <a:rPr lang="en-US" dirty="0" err="1"/>
              <a:t>barplot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>
                <a:latin typeface="+mn-lt"/>
              </a:rPr>
              <a:t>log2FC</a:t>
            </a:r>
            <a:r>
              <a:rPr lang="en-US" dirty="0"/>
              <a:t> </a:t>
            </a:r>
            <a:r>
              <a:rPr lang="en-US" dirty="0" err="1"/>
              <a:t>محاسبه‌شده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scCODA</a:t>
            </a:r>
            <a:r>
              <a:rPr lang="en-US" dirty="0"/>
              <a:t>؛ FDR &lt; 0.05 </a:t>
            </a:r>
            <a:r>
              <a:rPr lang="en-US" dirty="0" err="1"/>
              <a:t>برای</a:t>
            </a:r>
            <a:r>
              <a:rPr lang="en-US" dirty="0"/>
              <a:t> differential abundance </a:t>
            </a:r>
            <a:r>
              <a:rPr lang="en-US" dirty="0" err="1"/>
              <a:t>استفاده</a:t>
            </a:r>
            <a:r>
              <a:rPr lang="en-US" dirty="0"/>
              <a:t> </a:t>
            </a:r>
            <a:r>
              <a:rPr lang="en-US" dirty="0" err="1"/>
              <a:t>شده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NTCU treatment produced a clear shift in tracheal epithelial cell-type composition.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 err="1"/>
              <a:t>scCODA</a:t>
            </a:r>
            <a:r>
              <a:rPr lang="en-US" b="1" dirty="0"/>
              <a:t> identified the specific epithelial populations driving this compositional shift, including enrichment and depletion of distinct basal-cell states.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یکی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بهترین</a:t>
            </a:r>
            <a:r>
              <a:rPr lang="en-US" dirty="0"/>
              <a:t> </a:t>
            </a:r>
            <a:r>
              <a:rPr lang="en-US" dirty="0" err="1"/>
              <a:t>نمونه‌ها</a:t>
            </a:r>
            <a:r>
              <a:rPr lang="en-US" dirty="0"/>
              <a:t> </a:t>
            </a:r>
            <a:r>
              <a:rPr lang="en-US" dirty="0" err="1"/>
              <a:t>برای</a:t>
            </a:r>
            <a:r>
              <a:rPr lang="en-US" dirty="0"/>
              <a:t> </a:t>
            </a:r>
            <a:r>
              <a:rPr lang="en-US" dirty="0" err="1"/>
              <a:t>شکل</a:t>
            </a:r>
            <a:r>
              <a:rPr lang="en-US" dirty="0"/>
              <a:t> </a:t>
            </a:r>
            <a:r>
              <a:rPr lang="en-US" dirty="0" err="1"/>
              <a:t>خودت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 </a:t>
            </a:r>
            <a:r>
              <a:rPr lang="en-US" dirty="0" err="1"/>
              <a:t>چون</a:t>
            </a:r>
            <a:r>
              <a:rPr lang="en-US" dirty="0"/>
              <a:t> </a:t>
            </a:r>
            <a:r>
              <a:rPr lang="en-US" dirty="0" err="1"/>
              <a:t>دقیقاً</a:t>
            </a:r>
            <a:r>
              <a:rPr lang="en-US" dirty="0"/>
              <a:t> </a:t>
            </a:r>
            <a:r>
              <a:rPr lang="en-US" dirty="0" err="1"/>
              <a:t>ساختار</a:t>
            </a:r>
            <a:r>
              <a:rPr lang="en-US" dirty="0"/>
              <a:t> </a:t>
            </a:r>
            <a:r>
              <a:rPr lang="en-US" b="1" dirty="0"/>
              <a:t>observed composition → </a:t>
            </a:r>
            <a:r>
              <a:rPr lang="en-US" b="1" dirty="0" err="1"/>
              <a:t>scCODA</a:t>
            </a:r>
            <a:r>
              <a:rPr lang="en-US" b="1" dirty="0"/>
              <a:t> effect</a:t>
            </a:r>
            <a:r>
              <a:rPr lang="en-US" dirty="0"/>
              <a:t> </a:t>
            </a:r>
            <a:r>
              <a:rPr lang="en-US" dirty="0" err="1"/>
              <a:t>دارد</a:t>
            </a:r>
            <a:r>
              <a:rPr lang="en-US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F05D2E-1706-2BD3-48B5-A28DD7E72941}"/>
              </a:ext>
            </a:extLst>
          </p:cNvPr>
          <p:cNvSpPr txBox="1"/>
          <p:nvPr/>
        </p:nvSpPr>
        <p:spPr>
          <a:xfrm>
            <a:off x="3058610" y="5641670"/>
            <a:ext cx="61172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defTabSz="914400" rtl="0"/>
            <a:r>
              <a:rPr lang="en-US" dirty="0">
                <a:hlinkClick r:id="rId3"/>
              </a:rPr>
              <a:t>https://www.science.org/doi/10.1126/science.ads9145</a:t>
            </a:r>
            <a:endParaRPr lang="en-US" dirty="0"/>
          </a:p>
          <a:p>
            <a:pPr marL="0" indent="0" algn="l" defTabSz="914400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455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8DE36-B0AC-98F8-24AB-23D473571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20A48E-9072-832D-F77E-EB9CC735433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70781" y="570009"/>
            <a:ext cx="30413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buNone/>
            </a:pPr>
            <a:fld id="{54797FC3-DC33-DA47-95F6-F7EB925D69E8}" type="slidenum">
              <a:rPr/>
              <a:t>12</a:t>
            </a:fld>
            <a:endParaRPr/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3834CCD8-E745-FDB2-C602-AC103B5C6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60" y="476722"/>
            <a:ext cx="10573597" cy="768545"/>
          </a:xfrm>
        </p:spPr>
        <p:txBody>
          <a:bodyPr>
            <a:normAutofit/>
          </a:bodyPr>
          <a:lstStyle/>
          <a:p>
            <a:r>
              <a:rPr lang="en-US" dirty="0"/>
              <a:t>3. Coupling of response biomarkers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589EEB-C98F-2C50-9BC7-217B66D7BCFB}"/>
              </a:ext>
            </a:extLst>
          </p:cNvPr>
          <p:cNvSpPr txBox="1"/>
          <p:nvPr/>
        </p:nvSpPr>
        <p:spPr>
          <a:xfrm>
            <a:off x="3058610" y="1596809"/>
            <a:ext cx="611722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Figure 2D — Forest plot</a:t>
            </a:r>
            <a:endParaRPr lang="en-US" dirty="0"/>
          </a:p>
          <a:p>
            <a:pPr>
              <a:buNone/>
            </a:pPr>
            <a:r>
              <a:rPr lang="en-US" dirty="0" err="1"/>
              <a:t>scCODA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چند</a:t>
            </a:r>
            <a:r>
              <a:rPr lang="en-US" dirty="0"/>
              <a:t> seed </a:t>
            </a:r>
            <a:r>
              <a:rPr lang="en-US" dirty="0" err="1"/>
              <a:t>و</a:t>
            </a:r>
            <a:r>
              <a:rPr lang="en-US" dirty="0"/>
              <a:t> </a:t>
            </a:r>
            <a:r>
              <a:rPr lang="en-US" dirty="0" err="1"/>
              <a:t>دو</a:t>
            </a:r>
            <a:r>
              <a:rPr lang="en-US" dirty="0"/>
              <a:t> chain length </a:t>
            </a:r>
            <a:r>
              <a:rPr lang="en-US" dirty="0" err="1"/>
              <a:t>اجرا</a:t>
            </a:r>
            <a:r>
              <a:rPr lang="en-US" dirty="0"/>
              <a:t> </a:t>
            </a:r>
            <a:r>
              <a:rPr lang="en-US" dirty="0" err="1"/>
              <a:t>کرده‌اند</a:t>
            </a:r>
            <a:r>
              <a:rPr lang="en-US" dirty="0"/>
              <a:t> </a:t>
            </a:r>
            <a:r>
              <a:rPr lang="en-US" dirty="0" err="1"/>
              <a:t>و</a:t>
            </a:r>
            <a:r>
              <a:rPr lang="en-US" dirty="0"/>
              <a:t> average log2 fold changes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شکل</a:t>
            </a:r>
            <a:r>
              <a:rPr lang="en-US" dirty="0"/>
              <a:t> forest plot </a:t>
            </a:r>
            <a:r>
              <a:rPr lang="en-US" dirty="0" err="1"/>
              <a:t>نشان</a:t>
            </a:r>
            <a:r>
              <a:rPr lang="en-US" dirty="0"/>
              <a:t> </a:t>
            </a:r>
            <a:r>
              <a:rPr lang="en-US" dirty="0" err="1"/>
              <a:t>داده‌اند</a:t>
            </a:r>
            <a:r>
              <a:rPr lang="en-US" dirty="0"/>
              <a:t>. Positive effect </a:t>
            </a:r>
            <a:r>
              <a:rPr lang="en-US" dirty="0" err="1"/>
              <a:t>نشان‌دهنده‌ی</a:t>
            </a:r>
            <a:r>
              <a:rPr lang="en-US" dirty="0"/>
              <a:t> differential abundance </a:t>
            </a:r>
            <a:r>
              <a:rPr lang="en-US" dirty="0" err="1"/>
              <a:t>نسبت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responders </a:t>
            </a:r>
            <a:r>
              <a:rPr lang="en-US" dirty="0" err="1"/>
              <a:t>است</a:t>
            </a:r>
            <a:r>
              <a:rPr lang="en-US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 err="1"/>
              <a:t>scCODA</a:t>
            </a:r>
            <a:r>
              <a:rPr lang="en-US" b="1" dirty="0"/>
              <a:t> effect sizes were visualized as a forest plot to compare compositional changes across immune populations.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CD8⁺ effector-memory T cells emerged as the only population consistently enriched in treatment responders across time points.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نظر</a:t>
            </a:r>
            <a:r>
              <a:rPr lang="en-US" dirty="0"/>
              <a:t> visualization </a:t>
            </a:r>
            <a:r>
              <a:rPr lang="en-US" dirty="0" err="1"/>
              <a:t>خیلی</a:t>
            </a:r>
            <a:r>
              <a:rPr lang="en-US" dirty="0"/>
              <a:t> </a:t>
            </a:r>
            <a:r>
              <a:rPr lang="en-US" dirty="0" err="1"/>
              <a:t>نزدیک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posterior-effect plot </a:t>
            </a:r>
            <a:r>
              <a:rPr lang="en-US" dirty="0" err="1"/>
              <a:t>خودت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54388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C1DEE-BFAD-3811-C14C-C753CE33D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242DE9-F821-AD03-55EB-EE61227BE29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70781" y="570009"/>
            <a:ext cx="30413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buNone/>
            </a:pPr>
            <a:fld id="{54797FC3-DC33-DA47-95F6-F7EB925D69E8}" type="slidenum">
              <a:rPr/>
              <a:t>13</a:t>
            </a:fld>
            <a:endParaRPr/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18BDDC63-26B6-33EB-6EC0-66006D2C5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60" y="476722"/>
            <a:ext cx="10573597" cy="768545"/>
          </a:xfrm>
        </p:spPr>
        <p:txBody>
          <a:bodyPr>
            <a:normAutofit fontScale="90000"/>
          </a:bodyPr>
          <a:lstStyle/>
          <a:p>
            <a:r>
              <a:rPr lang="en-US" dirty="0"/>
              <a:t>4. Cell-death pathways and tau-associated neuronal vulnerability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BBF34C-A878-609B-3288-255531DAB141}"/>
              </a:ext>
            </a:extLst>
          </p:cNvPr>
          <p:cNvSpPr txBox="1"/>
          <p:nvPr/>
        </p:nvSpPr>
        <p:spPr>
          <a:xfrm>
            <a:off x="3058610" y="1596809"/>
            <a:ext cx="611722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Figure 3A — Dot-and-whisker plot</a:t>
            </a:r>
            <a:endParaRPr lang="en-US" dirty="0"/>
          </a:p>
          <a:p>
            <a:pPr>
              <a:buNone/>
            </a:pPr>
            <a:r>
              <a:rPr lang="en-US" dirty="0" err="1"/>
              <a:t>هر</a:t>
            </a:r>
            <a:r>
              <a:rPr lang="en-US" dirty="0"/>
              <a:t> point </a:t>
            </a:r>
            <a:r>
              <a:rPr lang="en-US" dirty="0" err="1"/>
              <a:t>تخمین</a:t>
            </a:r>
            <a:r>
              <a:rPr lang="en-US" dirty="0"/>
              <a:t> parameter </a:t>
            </a:r>
            <a:r>
              <a:rPr lang="en-US" dirty="0" err="1"/>
              <a:t>حاصل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scCODA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 </a:t>
            </a:r>
            <a:r>
              <a:rPr lang="en-US" dirty="0" err="1"/>
              <a:t>و</a:t>
            </a:r>
            <a:r>
              <a:rPr lang="en-US" dirty="0"/>
              <a:t> </a:t>
            </a:r>
            <a:r>
              <a:rPr lang="en-US" dirty="0" err="1"/>
              <a:t>whiskerها</a:t>
            </a:r>
            <a:r>
              <a:rPr lang="en-US" dirty="0"/>
              <a:t> 95% interval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نشان</a:t>
            </a:r>
            <a:r>
              <a:rPr lang="en-US" dirty="0"/>
              <a:t> </a:t>
            </a:r>
            <a:r>
              <a:rPr lang="en-US" dirty="0" err="1"/>
              <a:t>می‌دهند</a:t>
            </a:r>
            <a:r>
              <a:rPr lang="en-US" dirty="0"/>
              <a:t>. Authors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scCODA</a:t>
            </a:r>
            <a:r>
              <a:rPr lang="en-US" dirty="0"/>
              <a:t> </a:t>
            </a:r>
            <a:r>
              <a:rPr lang="en-US" dirty="0" err="1"/>
              <a:t>رابطه‌ی</a:t>
            </a:r>
            <a:r>
              <a:rPr lang="en-US" dirty="0"/>
              <a:t> abundance </a:t>
            </a:r>
            <a:r>
              <a:rPr lang="en-US" dirty="0" err="1"/>
              <a:t>subtypeهای</a:t>
            </a:r>
            <a:r>
              <a:rPr lang="en-US" dirty="0"/>
              <a:t> neuronal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local phospho-tau burden </a:t>
            </a:r>
            <a:r>
              <a:rPr lang="en-US" dirty="0" err="1"/>
              <a:t>بررسی</a:t>
            </a:r>
            <a:r>
              <a:rPr lang="en-US" dirty="0"/>
              <a:t> </a:t>
            </a:r>
            <a:r>
              <a:rPr lang="en-US" dirty="0" err="1"/>
              <a:t>کرده‌اند</a:t>
            </a:r>
            <a:r>
              <a:rPr lang="en-US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 err="1"/>
              <a:t>scCODA</a:t>
            </a:r>
            <a:r>
              <a:rPr lang="en-US" b="1" dirty="0"/>
              <a:t> effect estimates and their uncertainty were displayed using a dot-and-whisker plot.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L2/3 IT neurons showed a negative association between relative abundance and local phospho-tau burden.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شاید</a:t>
            </a:r>
            <a:r>
              <a:rPr lang="en-US" dirty="0"/>
              <a:t> </a:t>
            </a:r>
            <a:r>
              <a:rPr lang="en-US" dirty="0" err="1"/>
              <a:t>بهترین</a:t>
            </a:r>
            <a:r>
              <a:rPr lang="en-US" dirty="0"/>
              <a:t> precedent </a:t>
            </a:r>
            <a:r>
              <a:rPr lang="en-US" dirty="0" err="1"/>
              <a:t>برای</a:t>
            </a:r>
            <a:r>
              <a:rPr lang="en-US" dirty="0"/>
              <a:t> plot </a:t>
            </a:r>
            <a:r>
              <a:rPr lang="en-US" dirty="0" err="1"/>
              <a:t>فعلی</a:t>
            </a:r>
            <a:r>
              <a:rPr lang="en-US" dirty="0"/>
              <a:t> </a:t>
            </a:r>
            <a:r>
              <a:rPr lang="en-US" dirty="0" err="1"/>
              <a:t>تو</a:t>
            </a:r>
            <a:r>
              <a:rPr lang="en-US" dirty="0"/>
              <a:t> </a:t>
            </a:r>
            <a:r>
              <a:rPr lang="en-US" dirty="0" err="1"/>
              <a:t>باشد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b="1" dirty="0"/>
              <a:t>dot = posterior effect</a:t>
            </a:r>
            <a:br>
              <a:rPr lang="en-US" dirty="0"/>
            </a:br>
            <a:r>
              <a:rPr lang="en-US" b="1" dirty="0"/>
              <a:t>whisker = interval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9306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384E2-FCF4-BF82-8722-1EB52F9B8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971007-D2BF-A18B-4CA4-B0DFA36D9B4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70781" y="570009"/>
            <a:ext cx="30413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buNone/>
            </a:pPr>
            <a:fld id="{54797FC3-DC33-DA47-95F6-F7EB925D69E8}" type="slidenum">
              <a:rPr/>
              <a:t>14</a:t>
            </a:fld>
            <a:endParaRPr/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C6A034B9-0764-620F-8BDE-AADBF3A65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60" y="476722"/>
            <a:ext cx="10573597" cy="768545"/>
          </a:xfrm>
        </p:spPr>
        <p:txBody>
          <a:bodyPr>
            <a:normAutofit fontScale="90000"/>
          </a:bodyPr>
          <a:lstStyle/>
          <a:p>
            <a:r>
              <a:rPr lang="en-US" dirty="0"/>
              <a:t>5. Single-nucleus </a:t>
            </a:r>
            <a:r>
              <a:rPr lang="en-US" dirty="0" err="1"/>
              <a:t>multiomics</a:t>
            </a:r>
            <a:r>
              <a:rPr lang="en-US" dirty="0"/>
              <a:t> in early-onset Alzheimer’s disease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CD2617-DF68-0DAA-FF81-AFF804488C8A}"/>
              </a:ext>
            </a:extLst>
          </p:cNvPr>
          <p:cNvSpPr txBox="1"/>
          <p:nvPr/>
        </p:nvSpPr>
        <p:spPr>
          <a:xfrm>
            <a:off x="3058610" y="1458309"/>
            <a:ext cx="61172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Figure 1E + Extended Data Figure 1A–D</a:t>
            </a:r>
            <a:endParaRPr lang="en-US" dirty="0"/>
          </a:p>
          <a:p>
            <a:pPr>
              <a:buNone/>
            </a:pPr>
            <a:r>
              <a:rPr lang="en-US" b="1" dirty="0"/>
              <a:t>Fig. 1E:</a:t>
            </a:r>
            <a:r>
              <a:rPr lang="en-US" dirty="0"/>
              <a:t> proportion major cell types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برای</a:t>
            </a:r>
            <a:r>
              <a:rPr lang="en-US" dirty="0"/>
              <a:t> </a:t>
            </a:r>
            <a:r>
              <a:rPr lang="en-US" dirty="0" err="1"/>
              <a:t>هر</a:t>
            </a:r>
            <a:r>
              <a:rPr lang="en-US" dirty="0"/>
              <a:t> sample </a:t>
            </a:r>
            <a:r>
              <a:rPr lang="en-US" dirty="0" err="1"/>
              <a:t>و</a:t>
            </a:r>
            <a:r>
              <a:rPr lang="en-US" dirty="0"/>
              <a:t> brain region </a:t>
            </a:r>
            <a:r>
              <a:rPr lang="en-US" dirty="0" err="1"/>
              <a:t>نشان</a:t>
            </a:r>
            <a:r>
              <a:rPr lang="en-US" dirty="0"/>
              <a:t> </a:t>
            </a:r>
            <a:r>
              <a:rPr lang="en-US" dirty="0" err="1"/>
              <a:t>می‌دهد</a:t>
            </a:r>
            <a:r>
              <a:rPr lang="en-US" dirty="0"/>
              <a:t>.</a:t>
            </a:r>
            <a:br>
              <a:rPr lang="en-US" dirty="0"/>
            </a:br>
            <a:r>
              <a:rPr lang="en-US" b="1" dirty="0"/>
              <a:t>Extended Data Fig. 1A–D:</a:t>
            </a:r>
            <a:r>
              <a:rPr lang="en-US" dirty="0"/>
              <a:t> boxplots </a:t>
            </a:r>
            <a:r>
              <a:rPr lang="en-US" dirty="0" err="1"/>
              <a:t>برای</a:t>
            </a:r>
            <a:r>
              <a:rPr lang="en-US" dirty="0"/>
              <a:t> composition differences؛ </a:t>
            </a:r>
            <a:r>
              <a:rPr lang="en-US" dirty="0" err="1"/>
              <a:t>تغییرات</a:t>
            </a:r>
            <a:r>
              <a:rPr lang="en-US" dirty="0"/>
              <a:t> credible </a:t>
            </a:r>
            <a:r>
              <a:rPr lang="en-US" dirty="0" err="1"/>
              <a:t>حاصل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scCODA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>
                <a:latin typeface="+mn-lt"/>
              </a:rPr>
              <a:t>Pinc</a:t>
            </a:r>
            <a:r>
              <a:rPr lang="en-US" dirty="0"/>
              <a:t> </a:t>
            </a:r>
            <a:r>
              <a:rPr lang="en-US" dirty="0" err="1"/>
              <a:t>مشخص</a:t>
            </a:r>
            <a:r>
              <a:rPr lang="en-US" dirty="0"/>
              <a:t> </a:t>
            </a:r>
            <a:r>
              <a:rPr lang="en-US" dirty="0" err="1"/>
              <a:t>شده‌اند</a:t>
            </a:r>
            <a:r>
              <a:rPr lang="en-US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Cell-type proportions were shown directly across brain regions and disease conditions.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 err="1"/>
              <a:t>scCODA</a:t>
            </a:r>
            <a:r>
              <a:rPr lang="en-US" b="1" dirty="0"/>
              <a:t> posterior inclusion probabilities were used to annotate statistically credible compositional changes on the biological abundance plots.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برای</a:t>
            </a:r>
            <a:r>
              <a:rPr lang="en-US" dirty="0"/>
              <a:t> </a:t>
            </a:r>
            <a:r>
              <a:rPr lang="en-US" dirty="0" err="1"/>
              <a:t>تو</a:t>
            </a:r>
            <a:r>
              <a:rPr lang="en-US" dirty="0"/>
              <a:t> </a:t>
            </a:r>
            <a:r>
              <a:rPr lang="en-US" dirty="0" err="1"/>
              <a:t>مهم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 </a:t>
            </a:r>
            <a:r>
              <a:rPr lang="en-US" dirty="0" err="1"/>
              <a:t>چون</a:t>
            </a:r>
            <a:r>
              <a:rPr lang="en-US" dirty="0"/>
              <a:t> </a:t>
            </a:r>
            <a:r>
              <a:rPr lang="en-US" dirty="0" err="1"/>
              <a:t>نشان</a:t>
            </a:r>
            <a:r>
              <a:rPr lang="en-US" dirty="0"/>
              <a:t> </a:t>
            </a:r>
            <a:r>
              <a:rPr lang="en-US" dirty="0" err="1"/>
              <a:t>می‌دهد</a:t>
            </a:r>
            <a:r>
              <a:rPr lang="en-US" dirty="0"/>
              <a:t> </a:t>
            </a:r>
            <a:r>
              <a:rPr lang="en-US" dirty="0" err="1"/>
              <a:t>لازم</a:t>
            </a:r>
            <a:r>
              <a:rPr lang="en-US" dirty="0"/>
              <a:t> </a:t>
            </a:r>
            <a:r>
              <a:rPr lang="en-US" dirty="0" err="1"/>
              <a:t>نیست</a:t>
            </a:r>
            <a:r>
              <a:rPr lang="en-US" dirty="0"/>
              <a:t> </a:t>
            </a:r>
            <a:r>
              <a:rPr lang="en-US" dirty="0" err="1"/>
              <a:t>حتماً</a:t>
            </a:r>
            <a:r>
              <a:rPr lang="en-US" dirty="0"/>
              <a:t>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b="1" dirty="0"/>
              <a:t>PIP panel </a:t>
            </a:r>
            <a:r>
              <a:rPr lang="en-US" b="1" dirty="0" err="1"/>
              <a:t>مستقل</a:t>
            </a:r>
            <a:r>
              <a:rPr lang="en-US" dirty="0"/>
              <a:t> </a:t>
            </a:r>
            <a:r>
              <a:rPr lang="en-US" dirty="0" err="1"/>
              <a:t>داشته</a:t>
            </a:r>
            <a:r>
              <a:rPr lang="en-US" dirty="0"/>
              <a:t> </a:t>
            </a:r>
            <a:r>
              <a:rPr lang="en-US" dirty="0" err="1"/>
              <a:t>باشی</a:t>
            </a:r>
            <a:r>
              <a:rPr lang="en-US" dirty="0"/>
              <a:t>؛ </a:t>
            </a:r>
            <a:r>
              <a:rPr lang="en-US" dirty="0" err="1"/>
              <a:t>می‌توانی</a:t>
            </a:r>
            <a:r>
              <a:rPr lang="en-US" dirty="0"/>
              <a:t> PIP/FDR </a:t>
            </a:r>
            <a:r>
              <a:rPr lang="en-US" dirty="0" err="1"/>
              <a:t>را</a:t>
            </a:r>
            <a:r>
              <a:rPr lang="en-US" dirty="0"/>
              <a:t> annotation </a:t>
            </a:r>
            <a:r>
              <a:rPr lang="en-US" dirty="0" err="1"/>
              <a:t>کنی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05701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BDF8A-668F-187C-F46E-283509D07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278EA-D116-ABDA-CEFC-192BAD2F293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70781" y="570009"/>
            <a:ext cx="30413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buNone/>
            </a:pPr>
            <a:fld id="{54797FC3-DC33-DA47-95F6-F7EB925D69E8}" type="slidenum">
              <a:rPr/>
              <a:t>15</a:t>
            </a:fld>
            <a:endParaRPr/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481FE5AA-125F-0DB6-1DC4-4BCDDB416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60" y="476722"/>
            <a:ext cx="10573597" cy="768545"/>
          </a:xfrm>
        </p:spPr>
        <p:txBody>
          <a:bodyPr>
            <a:normAutofit fontScale="90000"/>
          </a:bodyPr>
          <a:lstStyle/>
          <a:p>
            <a:r>
              <a:rPr lang="en-US" dirty="0"/>
              <a:t>6. Integrated multimodal cell atlas of Alzheimer’s disease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32C9A2-BF5D-4198-B77F-66292CF7AE5A}"/>
              </a:ext>
            </a:extLst>
          </p:cNvPr>
          <p:cNvSpPr txBox="1"/>
          <p:nvPr/>
        </p:nvSpPr>
        <p:spPr>
          <a:xfrm>
            <a:off x="3058610" y="1458309"/>
            <a:ext cx="61172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Figure 3B — Effect-size bar plots</a:t>
            </a:r>
            <a:endParaRPr lang="en-US" dirty="0"/>
          </a:p>
          <a:p>
            <a:pPr>
              <a:buNone/>
            </a:pPr>
            <a:r>
              <a:rPr lang="en-US" dirty="0"/>
              <a:t>Authors relative-abundance effect sizes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برای</a:t>
            </a:r>
            <a:r>
              <a:rPr lang="en-US" dirty="0"/>
              <a:t> cognitive status، AD neuropathology </a:t>
            </a:r>
            <a:r>
              <a:rPr lang="en-US" dirty="0" err="1"/>
              <a:t>و</a:t>
            </a:r>
            <a:r>
              <a:rPr lang="en-US" dirty="0"/>
              <a:t> continuous </a:t>
            </a:r>
            <a:r>
              <a:rPr lang="en-US" dirty="0" err="1"/>
              <a:t>pseudoprogression</a:t>
            </a:r>
            <a:r>
              <a:rPr lang="en-US" dirty="0"/>
              <a:t> score </a:t>
            </a:r>
            <a:r>
              <a:rPr lang="en-US" dirty="0" err="1"/>
              <a:t>نشان</a:t>
            </a:r>
            <a:r>
              <a:rPr lang="en-US" dirty="0"/>
              <a:t> </a:t>
            </a:r>
            <a:r>
              <a:rPr lang="en-US" dirty="0" err="1"/>
              <a:t>داده‌اند</a:t>
            </a:r>
            <a:r>
              <a:rPr lang="en-US" dirty="0"/>
              <a:t>. </a:t>
            </a:r>
            <a:r>
              <a:rPr lang="en-US" dirty="0" err="1"/>
              <a:t>رنگ‌ها</a:t>
            </a:r>
            <a:r>
              <a:rPr lang="en-US" dirty="0"/>
              <a:t> </a:t>
            </a:r>
            <a:r>
              <a:rPr lang="en-US" dirty="0" err="1"/>
              <a:t>مشخص</a:t>
            </a:r>
            <a:r>
              <a:rPr lang="en-US" dirty="0"/>
              <a:t> </a:t>
            </a:r>
            <a:r>
              <a:rPr lang="en-US" dirty="0" err="1"/>
              <a:t>می‌کنند</a:t>
            </a:r>
            <a:r>
              <a:rPr lang="en-US" dirty="0"/>
              <a:t> </a:t>
            </a:r>
            <a:r>
              <a:rPr lang="en-US" dirty="0" err="1"/>
              <a:t>کدام</a:t>
            </a:r>
            <a:r>
              <a:rPr lang="en-US" dirty="0"/>
              <a:t> cell populations compositional changes </a:t>
            </a:r>
            <a:r>
              <a:rPr lang="en-US" dirty="0" err="1"/>
              <a:t>معنی‌دار</a:t>
            </a:r>
            <a:r>
              <a:rPr lang="en-US" dirty="0"/>
              <a:t> </a:t>
            </a:r>
            <a:r>
              <a:rPr lang="en-US" dirty="0" err="1"/>
              <a:t>دارند</a:t>
            </a:r>
            <a:r>
              <a:rPr lang="en-US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 err="1"/>
              <a:t>scCODA</a:t>
            </a:r>
            <a:r>
              <a:rPr lang="en-US" b="1" dirty="0"/>
              <a:t> effect sizes were summarized as bar plots to highlight cell populations changing along Alzheimer’s disease progression.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Reference sensitivity was addressed by repeating the compositional analysis with each supertype as the reference population.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آخری</a:t>
            </a:r>
            <a:r>
              <a:rPr lang="en-US" dirty="0"/>
              <a:t> </a:t>
            </a:r>
            <a:r>
              <a:rPr lang="en-US" dirty="0" err="1"/>
              <a:t>برای</a:t>
            </a:r>
            <a:r>
              <a:rPr lang="en-US" dirty="0"/>
              <a:t> analysis </a:t>
            </a:r>
            <a:r>
              <a:rPr lang="en-US" dirty="0" err="1"/>
              <a:t>خودت</a:t>
            </a:r>
            <a:r>
              <a:rPr lang="en-US" dirty="0"/>
              <a:t> </a:t>
            </a:r>
            <a:r>
              <a:rPr lang="en-US" dirty="0" err="1"/>
              <a:t>خیلی</a:t>
            </a:r>
            <a:r>
              <a:rPr lang="en-US" dirty="0"/>
              <a:t> </a:t>
            </a:r>
            <a:r>
              <a:rPr lang="en-US" dirty="0" err="1"/>
              <a:t>مهم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، </a:t>
            </a:r>
            <a:r>
              <a:rPr lang="en-US" dirty="0" err="1"/>
              <a:t>چون</a:t>
            </a:r>
            <a:r>
              <a:rPr lang="en-US" dirty="0"/>
              <a:t> </a:t>
            </a:r>
            <a:r>
              <a:rPr lang="en-US" dirty="0" err="1"/>
              <a:t>تو</a:t>
            </a:r>
            <a:r>
              <a:rPr lang="en-US" dirty="0"/>
              <a:t> Cluster 10 </a:t>
            </a:r>
            <a:r>
              <a:rPr lang="en-US" dirty="0" err="1"/>
              <a:t>را</a:t>
            </a:r>
            <a:r>
              <a:rPr lang="en-US" dirty="0"/>
              <a:t> reference </a:t>
            </a:r>
            <a:r>
              <a:rPr lang="en-US" dirty="0" err="1"/>
              <a:t>گرفته‌ای</a:t>
            </a:r>
            <a:r>
              <a:rPr lang="en-US" dirty="0"/>
              <a:t>؛ </a:t>
            </a:r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مقاله</a:t>
            </a:r>
            <a:r>
              <a:rPr lang="en-US" dirty="0"/>
              <a:t> precedent </a:t>
            </a:r>
            <a:r>
              <a:rPr lang="en-US" dirty="0" err="1"/>
              <a:t>خوبی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 </a:t>
            </a:r>
            <a:r>
              <a:rPr lang="en-US" dirty="0" err="1"/>
              <a:t>برای</a:t>
            </a:r>
            <a:r>
              <a:rPr lang="en-US" dirty="0"/>
              <a:t> </a:t>
            </a:r>
            <a:r>
              <a:rPr lang="en-US" dirty="0" err="1"/>
              <a:t>اینکه</a:t>
            </a:r>
            <a:r>
              <a:rPr lang="en-US" dirty="0"/>
              <a:t> </a:t>
            </a:r>
            <a:r>
              <a:rPr lang="en-US" dirty="0" err="1"/>
              <a:t>نشان</a:t>
            </a:r>
            <a:r>
              <a:rPr lang="en-US" dirty="0"/>
              <a:t> </a:t>
            </a:r>
            <a:r>
              <a:rPr lang="en-US" dirty="0" err="1"/>
              <a:t>بدهی</a:t>
            </a:r>
            <a:r>
              <a:rPr lang="en-US" dirty="0"/>
              <a:t> </a:t>
            </a:r>
            <a:r>
              <a:rPr lang="en-US" dirty="0" err="1"/>
              <a:t>نتیجه</a:t>
            </a:r>
            <a:r>
              <a:rPr lang="en-US" dirty="0"/>
              <a:t> </a:t>
            </a:r>
            <a:r>
              <a:rPr lang="en-US" dirty="0" err="1"/>
              <a:t>نسبت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انتخاب</a:t>
            </a:r>
            <a:r>
              <a:rPr lang="en-US" dirty="0"/>
              <a:t> reference robust </a:t>
            </a:r>
            <a:r>
              <a:rPr lang="en-US" dirty="0" err="1"/>
              <a:t>است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552249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B7AE0-1E1D-0BF3-B484-60439E3DE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6DC65-D40A-33CC-889F-461C9719B8C5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54797FC3-DC33-DA47-95F6-F7EB925D69E8}" type="slidenum">
              <a:rPr lang="en-US" smtClean="0"/>
              <a:t>16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2B8204F-9D5D-6DFF-8362-6522BEC92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60" y="1952861"/>
            <a:ext cx="10573597" cy="2952278"/>
          </a:xfrm>
        </p:spPr>
        <p:txBody>
          <a:bodyPr>
            <a:normAutofit/>
          </a:bodyPr>
          <a:lstStyle/>
          <a:p>
            <a:r>
              <a:rPr lang="en-US" sz="5400" dirty="0"/>
              <a:t>Bigger Picture</a:t>
            </a:r>
          </a:p>
        </p:txBody>
      </p:sp>
    </p:spTree>
    <p:extLst>
      <p:ext uri="{BB962C8B-B14F-4D97-AF65-F5344CB8AC3E}">
        <p14:creationId xmlns:p14="http://schemas.microsoft.com/office/powerpoint/2010/main" val="22685612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DD55B-57E2-04EA-122B-29F17767E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907FA-6F11-B52E-8AB3-04CE56FFFD7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70781" y="570009"/>
            <a:ext cx="30413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buNone/>
            </a:pPr>
            <a:fld id="{54797FC3-DC33-DA47-95F6-F7EB925D69E8}" type="slidenum">
              <a:rPr/>
              <a:t>17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60C8C1-76E9-43BC-66F1-3F269F73C7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28" y="191069"/>
            <a:ext cx="10881436" cy="6117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6706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960DE-C7F3-19B6-B396-549446E56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B1E6C7-D987-8ECD-AAFF-556570D704B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70781" y="570009"/>
            <a:ext cx="30413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buNone/>
            </a:pPr>
            <a:fld id="{54797FC3-DC33-DA47-95F6-F7EB925D69E8}" type="slidenum">
              <a:rPr/>
              <a:t>18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5FE892-7B7A-6C86-618C-02F61F18F4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900" y="209550"/>
            <a:ext cx="7772400" cy="5581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1046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6F22A-11A3-2EE4-91A4-A18ED412C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C8299-F531-C6DA-5B3D-81F6B155FA3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70781" y="570009"/>
            <a:ext cx="30413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buNone/>
            </a:pPr>
            <a:fld id="{54797FC3-DC33-DA47-95F6-F7EB925D69E8}" type="slidenum">
              <a:rPr/>
              <a:t>19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96B4E8-A74F-2F11-794B-D728FD38A5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348" y="0"/>
            <a:ext cx="5989303" cy="625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487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AB Brand 2024 Updat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A5632"/>
      </a:accent1>
      <a:accent2>
        <a:srgbClr val="FDB913"/>
      </a:accent2>
      <a:accent3>
        <a:srgbClr val="033319"/>
      </a:accent3>
      <a:accent4>
        <a:srgbClr val="90D308"/>
      </a:accent4>
      <a:accent5>
        <a:srgbClr val="17B045"/>
      </a:accent5>
      <a:accent6>
        <a:srgbClr val="41CAF0"/>
      </a:accent6>
      <a:hlink>
        <a:srgbClr val="1A5632"/>
      </a:hlink>
      <a:folHlink>
        <a:srgbClr val="90D308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AB Brand 2024 Updat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UAB Brand 2024 Updat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A5632"/>
      </a:accent1>
      <a:accent2>
        <a:srgbClr val="FDB913"/>
      </a:accent2>
      <a:accent3>
        <a:srgbClr val="033319"/>
      </a:accent3>
      <a:accent4>
        <a:srgbClr val="90D308"/>
      </a:accent4>
      <a:accent5>
        <a:srgbClr val="17B045"/>
      </a:accent5>
      <a:accent6>
        <a:srgbClr val="41CAF0"/>
      </a:accent6>
      <a:hlink>
        <a:srgbClr val="1A5632"/>
      </a:hlink>
      <a:folHlink>
        <a:srgbClr val="90D308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AB Brand 2024 Updat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736</Words>
  <Application>Microsoft Macintosh PowerPoint</Application>
  <DocSecurity>0</DocSecurity>
  <PresentationFormat>Widescreen</PresentationFormat>
  <Paragraphs>67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Proxima Nova Rg</vt:lpstr>
      <vt:lpstr>Office Theme</vt:lpstr>
      <vt:lpstr>scTalk 7: scCODA  (Einstein Was Right, Cell Types Are Relative)</vt:lpstr>
      <vt:lpstr>scTalk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to visualize the results?</vt:lpstr>
      <vt:lpstr>1. FixNCut — scCODA compositional analysis</vt:lpstr>
      <vt:lpstr>2. Aberrant basal cell clonal dynamics — Science</vt:lpstr>
      <vt:lpstr>3. Coupling of response biomarkers</vt:lpstr>
      <vt:lpstr>4. Cell-death pathways and tau-associated neuronal vulnerability</vt:lpstr>
      <vt:lpstr>5. Single-nucleus multiomics in early-onset Alzheimer’s disease</vt:lpstr>
      <vt:lpstr>6. Integrated multimodal cell atlas of Alzheimer’s disease</vt:lpstr>
      <vt:lpstr>Bigger Picture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Bagherabadi, Arash</cp:lastModifiedBy>
  <cp:revision>49</cp:revision>
  <dcterms:created xsi:type="dcterms:W3CDTF">2026-06-09T16:42:30Z</dcterms:created>
  <dcterms:modified xsi:type="dcterms:W3CDTF">2026-08-19T21:36:09Z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e7542bc-63e5-412b-b0a0-d9586028a7d0_Enabled">
    <vt:lpwstr>true</vt:lpwstr>
  </property>
  <property fmtid="{D5CDD505-2E9C-101B-9397-08002B2CF9AE}" pid="3" name="MSIP_Label_ae7542bc-63e5-412b-b0a0-d9586028a7d0_SetDate">
    <vt:lpwstr>2026-06-09T17:10:49Z</vt:lpwstr>
  </property>
  <property fmtid="{D5CDD505-2E9C-101B-9397-08002B2CF9AE}" pid="4" name="MSIP_Label_ae7542bc-63e5-412b-b0a0-d9586028a7d0_Method">
    <vt:lpwstr>Standard</vt:lpwstr>
  </property>
  <property fmtid="{D5CDD505-2E9C-101B-9397-08002B2CF9AE}" pid="5" name="MSIP_Label_ae7542bc-63e5-412b-b0a0-d9586028a7d0_Name">
    <vt:lpwstr>Sensitive</vt:lpwstr>
  </property>
  <property fmtid="{D5CDD505-2E9C-101B-9397-08002B2CF9AE}" pid="6" name="MSIP_Label_ae7542bc-63e5-412b-b0a0-d9586028a7d0_SiteId">
    <vt:lpwstr>d8999fe4-76af-40b3-b435-1d8977abc08c</vt:lpwstr>
  </property>
  <property fmtid="{D5CDD505-2E9C-101B-9397-08002B2CF9AE}" pid="7" name="MSIP_Label_ae7542bc-63e5-412b-b0a0-d9586028a7d0_ActionId">
    <vt:lpwstr>e106d06e-652c-4706-bbbf-065eb5c20952</vt:lpwstr>
  </property>
  <property fmtid="{D5CDD505-2E9C-101B-9397-08002B2CF9AE}" pid="8" name="MSIP_Label_ae7542bc-63e5-412b-b0a0-d9586028a7d0_ContentBits">
    <vt:lpwstr>0</vt:lpwstr>
  </property>
  <property fmtid="{D5CDD505-2E9C-101B-9397-08002B2CF9AE}" pid="9" name="MSIP_Label_ae7542bc-63e5-412b-b0a0-d9586028a7d0_Tag">
    <vt:lpwstr>50, 3, 0, 1</vt:lpwstr>
  </property>
</Properties>
</file>