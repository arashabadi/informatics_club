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064551462a46ff" /><Relationship Type="http://schemas.openxmlformats.org/officeDocument/2006/relationships/extended-properties" Target="/docProps/app.xml" Id="Rf27cc64029fd4be0" /><Relationship Type="http://schemas.openxmlformats.org/officeDocument/2006/relationships/officeDocument" Target="/ppt/presentation.xml" Id="R1b7144295c0849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85fc644064c53"/>
  </p:sldMasterIdLst>
  <p:notesMasterIdLst>
    <p:notesMasterId xmlns:r="http://schemas.openxmlformats.org/officeDocument/2006/relationships" r:id="R5bde99b85f894844"/>
  </p:notesMasterIdLst>
  <p:sldIdLst>
    <p:sldId xmlns:r="http://schemas.openxmlformats.org/officeDocument/2006/relationships" id="256" r:id="R34f7ea778f73406d"/>
    <p:sldId xmlns:r="http://schemas.openxmlformats.org/officeDocument/2006/relationships" id="257" r:id="R80515dd272264e8a"/>
    <p:sldId xmlns:r="http://schemas.openxmlformats.org/officeDocument/2006/relationships" id="258" r:id="Ra5cb75e31810421c"/>
    <p:sldId xmlns:r="http://schemas.openxmlformats.org/officeDocument/2006/relationships" id="259" r:id="Rf2ad60481af947c7"/>
    <p:sldId xmlns:r="http://schemas.openxmlformats.org/officeDocument/2006/relationships" id="260" r:id="Rcb1db6d2973c4086"/>
    <p:sldId xmlns:r="http://schemas.openxmlformats.org/officeDocument/2006/relationships" id="261" r:id="R1f9e355238c448f5"/>
    <p:sldId xmlns:r="http://schemas.openxmlformats.org/officeDocument/2006/relationships" id="262" r:id="Rbc59bde97bfd4821"/>
    <p:sldId xmlns:r="http://schemas.openxmlformats.org/officeDocument/2006/relationships" id="263" r:id="Recb7ada0c1fe47ba"/>
    <p:sldId xmlns:r="http://schemas.openxmlformats.org/officeDocument/2006/relationships" id="264" r:id="Rc7c1952050834cc5"/>
    <p:sldId xmlns:r="http://schemas.openxmlformats.org/officeDocument/2006/relationships" id="265" r:id="Rbfa71366bbbb46a7"/>
    <p:sldId xmlns:r="http://schemas.openxmlformats.org/officeDocument/2006/relationships" id="266" r:id="Rb89652989d754a17"/>
    <p:sldId xmlns:r="http://schemas.openxmlformats.org/officeDocument/2006/relationships" id="267" r:id="Rbda16191ca4d4f2b"/>
    <p:sldId xmlns:r="http://schemas.openxmlformats.org/officeDocument/2006/relationships" id="268" r:id="R3457177f5532430d"/>
    <p:sldId xmlns:r="http://schemas.openxmlformats.org/officeDocument/2006/relationships" id="269" r:id="R4bab48b79ec74a87"/>
    <p:sldId xmlns:r="http://schemas.openxmlformats.org/officeDocument/2006/relationships" id="270" r:id="R8a13783b46be43ab"/>
    <p:sldId xmlns:r="http://schemas.openxmlformats.org/officeDocument/2006/relationships" id="271" r:id="Ra6a299832a824346"/>
    <p:sldId xmlns:r="http://schemas.openxmlformats.org/officeDocument/2006/relationships" id="272" r:id="Rb04c38400e634a0a"/>
    <p:sldId xmlns:r="http://schemas.openxmlformats.org/officeDocument/2006/relationships" id="273" r:id="R4696b8c192ef4fd3"/>
    <p:sldId xmlns:r="http://schemas.openxmlformats.org/officeDocument/2006/relationships" id="274" r:id="Rd3ed0246563f40bf"/>
    <p:sldId xmlns:r="http://schemas.openxmlformats.org/officeDocument/2006/relationships" id="275" r:id="Racbb2dc209004e3c"/>
    <p:sldId xmlns:r="http://schemas.openxmlformats.org/officeDocument/2006/relationships" id="276" r:id="R7589d90311e74986"/>
    <p:sldId xmlns:r="http://schemas.openxmlformats.org/officeDocument/2006/relationships" id="277" r:id="Rae42edf7b6b6498b"/>
    <p:sldId xmlns:r="http://schemas.openxmlformats.org/officeDocument/2006/relationships" id="278" r:id="Rd392e7ffa6a64e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1bf344eedb49ab" /><Relationship Type="http://schemas.openxmlformats.org/officeDocument/2006/relationships/slideMaster" Target="/ppt/slideMasters/slideMaster1.xml" Id="R5df85fc644064c53" /><Relationship Type="http://schemas.openxmlformats.org/officeDocument/2006/relationships/notesMaster" Target="/ppt/notesMasters/notesMaster1.xml" Id="R5bde99b85f894844" /><Relationship Type="http://schemas.openxmlformats.org/officeDocument/2006/relationships/presProps" Target="/ppt/presProps.xml" Id="R2d78d3e7cceb4cee" /><Relationship Type="http://schemas.openxmlformats.org/officeDocument/2006/relationships/viewProps" Target="/ppt/viewProps.xml" Id="Rd5ac238d267343a1" /><Relationship Type="http://schemas.openxmlformats.org/officeDocument/2006/relationships/tableStyles" Target="/ppt/tableStyles.xml" Id="R0d76f11330734c1e" /><Relationship Type="http://schemas.openxmlformats.org/officeDocument/2006/relationships/slide" Target="/ppt/slides/slide1.xml" Id="R34f7ea778f73406d" /><Relationship Type="http://schemas.openxmlformats.org/officeDocument/2006/relationships/slide" Target="/ppt/slides/slide2.xml" Id="R80515dd272264e8a" /><Relationship Type="http://schemas.openxmlformats.org/officeDocument/2006/relationships/slide" Target="/ppt/slides/slide3.xml" Id="Ra5cb75e31810421c" /><Relationship Type="http://schemas.openxmlformats.org/officeDocument/2006/relationships/slide" Target="/ppt/slides/slide4.xml" Id="Rf2ad60481af947c7" /><Relationship Type="http://schemas.openxmlformats.org/officeDocument/2006/relationships/slide" Target="/ppt/slides/slide5.xml" Id="Rcb1db6d2973c4086" /><Relationship Type="http://schemas.openxmlformats.org/officeDocument/2006/relationships/slide" Target="/ppt/slides/slide6.xml" Id="R1f9e355238c448f5" /><Relationship Type="http://schemas.openxmlformats.org/officeDocument/2006/relationships/slide" Target="/ppt/slides/slide7.xml" Id="Rbc59bde97bfd4821" /><Relationship Type="http://schemas.openxmlformats.org/officeDocument/2006/relationships/slide" Target="/ppt/slides/slide8.xml" Id="Recb7ada0c1fe47ba" /><Relationship Type="http://schemas.openxmlformats.org/officeDocument/2006/relationships/slide" Target="/ppt/slides/slide9.xml" Id="Rc7c1952050834cc5" /><Relationship Type="http://schemas.openxmlformats.org/officeDocument/2006/relationships/slide" Target="/ppt/slides/slide10.xml" Id="Rbfa71366bbbb46a7" /><Relationship Type="http://schemas.openxmlformats.org/officeDocument/2006/relationships/slide" Target="/ppt/slides/slide11.xml" Id="Rb89652989d754a17" /><Relationship Type="http://schemas.openxmlformats.org/officeDocument/2006/relationships/slide" Target="/ppt/slides/slide12.xml" Id="Rbda16191ca4d4f2b" /><Relationship Type="http://schemas.openxmlformats.org/officeDocument/2006/relationships/slide" Target="/ppt/slides/slide13.xml" Id="R3457177f5532430d" /><Relationship Type="http://schemas.openxmlformats.org/officeDocument/2006/relationships/slide" Target="/ppt/slides/slide14.xml" Id="R4bab48b79ec74a87" /><Relationship Type="http://schemas.openxmlformats.org/officeDocument/2006/relationships/slide" Target="/ppt/slides/slide15.xml" Id="R8a13783b46be43ab" /><Relationship Type="http://schemas.openxmlformats.org/officeDocument/2006/relationships/slide" Target="/ppt/slides/slide16.xml" Id="Ra6a299832a824346" /><Relationship Type="http://schemas.openxmlformats.org/officeDocument/2006/relationships/slide" Target="/ppt/slides/slide17.xml" Id="Rb04c38400e634a0a" /><Relationship Type="http://schemas.openxmlformats.org/officeDocument/2006/relationships/slide" Target="/ppt/slides/slide18.xml" Id="R4696b8c192ef4fd3" /><Relationship Type="http://schemas.openxmlformats.org/officeDocument/2006/relationships/slide" Target="/ppt/slides/slide19.xml" Id="Rd3ed0246563f40bf" /><Relationship Type="http://schemas.openxmlformats.org/officeDocument/2006/relationships/slide" Target="/ppt/slides/slide20.xml" Id="Racbb2dc209004e3c" /><Relationship Type="http://schemas.openxmlformats.org/officeDocument/2006/relationships/slide" Target="/ppt/slides/slide21.xml" Id="R7589d90311e74986" /><Relationship Type="http://schemas.openxmlformats.org/officeDocument/2006/relationships/slide" Target="/ppt/slides/slide22.xml" Id="Rae42edf7b6b6498b" /><Relationship Type="http://schemas.openxmlformats.org/officeDocument/2006/relationships/slide" Target="/ppt/slides/slide23.xml" Id="Rd392e7ffa6a64e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734a7e2f25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UAB Brand 2024 Upd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A5632"/>
      </a:accent1>
      <a:accent2>
        <a:srgbClr val="FDB913"/>
      </a:accent2>
      <a:accent3>
        <a:srgbClr val="033319"/>
      </a:accent3>
      <a:accent4>
        <a:srgbClr val="90D308"/>
      </a:accent4>
      <a:accent5>
        <a:srgbClr val="17B045"/>
      </a:accent5>
      <a:accent6>
        <a:srgbClr val="41CAF0"/>
      </a:accent6>
      <a:hlink>
        <a:srgbClr val="1A5632"/>
      </a:hlink>
      <a:folHlink>
        <a:srgbClr val="90D30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AB Brand 2024 Updat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7828bce5e4b18" /><Relationship Type="http://schemas.openxmlformats.org/officeDocument/2006/relationships/notesMaster" Target="/ppt/notesMasters/notesMaster1.xml" Id="R0e61c49d244b4a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cfab67b844b6f" /><Relationship Type="http://schemas.openxmlformats.org/officeDocument/2006/relationships/notesMaster" Target="/ppt/notesMasters/notesMaster1.xml" Id="R682b8b16f3b642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564acc2b794d91" /><Relationship Type="http://schemas.openxmlformats.org/officeDocument/2006/relationships/notesMaster" Target="/ppt/notesMasters/notesMaster1.xml" Id="R57ccdc9e262545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d68558ca084456" /><Relationship Type="http://schemas.openxmlformats.org/officeDocument/2006/relationships/notesMaster" Target="/ppt/notesMasters/notesMaster1.xml" Id="Rdf372b2e0a44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ded1995686485a" /><Relationship Type="http://schemas.openxmlformats.org/officeDocument/2006/relationships/notesMaster" Target="/ppt/notesMasters/notesMaster1.xml" Id="R26c11d63b9ec40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76a381e2f477e" /><Relationship Type="http://schemas.openxmlformats.org/officeDocument/2006/relationships/notesMaster" Target="/ppt/notesMasters/notesMaster1.xml" Id="R9a7f776a540d42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82c9dce7e24929" /><Relationship Type="http://schemas.openxmlformats.org/officeDocument/2006/relationships/notesMaster" Target="/ppt/notesMasters/notesMaster1.xml" Id="R4269d08bf5c94f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d9ffc1bc49412b" /><Relationship Type="http://schemas.openxmlformats.org/officeDocument/2006/relationships/notesMaster" Target="/ppt/notesMasters/notesMaster1.xml" Id="Rb242d82f076743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c35c5b309148ce" /><Relationship Type="http://schemas.openxmlformats.org/officeDocument/2006/relationships/notesMaster" Target="/ppt/notesMasters/notesMaster1.xml" Id="R8dc25faf74d045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528b2dc6f54115" /><Relationship Type="http://schemas.openxmlformats.org/officeDocument/2006/relationships/notesMaster" Target="/ppt/notesMasters/notesMaster1.xml" Id="Re299ce38966c46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933fb56906473c" /><Relationship Type="http://schemas.openxmlformats.org/officeDocument/2006/relationships/notesMaster" Target="/ppt/notesMasters/notesMaster1.xml" Id="R72f83be4423a48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dad1b2f9b1499f" /><Relationship Type="http://schemas.openxmlformats.org/officeDocument/2006/relationships/notesMaster" Target="/ppt/notesMasters/notesMaster1.xml" Id="R12b5c7d61f4a4f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f315ed17464d47" /><Relationship Type="http://schemas.openxmlformats.org/officeDocument/2006/relationships/notesMaster" Target="/ppt/notesMasters/notesMaster1.xml" Id="R86eec63e746741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013262e44d4793" /><Relationship Type="http://schemas.openxmlformats.org/officeDocument/2006/relationships/notesMaster" Target="/ppt/notesMasters/notesMaster1.xml" Id="R1c367c5c9fe746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d096ffecb04e13" /><Relationship Type="http://schemas.openxmlformats.org/officeDocument/2006/relationships/notesMaster" Target="/ppt/notesMasters/notesMaster1.xml" Id="Red20d4aa820e41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5037fb617e4dd1" /><Relationship Type="http://schemas.openxmlformats.org/officeDocument/2006/relationships/notesMaster" Target="/ppt/notesMasters/notesMaster1.xml" Id="R07d0b0cbe38447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8bedba166043de" /><Relationship Type="http://schemas.openxmlformats.org/officeDocument/2006/relationships/notesMaster" Target="/ppt/notesMasters/notesMaster1.xml" Id="Reff22f6dd1f248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7ce2e99c024457" /><Relationship Type="http://schemas.openxmlformats.org/officeDocument/2006/relationships/notesMaster" Target="/ppt/notesMasters/notesMaster1.xml" Id="R44475a7c3ac448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499c7f6acf446c" /><Relationship Type="http://schemas.openxmlformats.org/officeDocument/2006/relationships/notesMaster" Target="/ppt/notesMasters/notesMaster1.xml" Id="R23b3c2ee1884447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4ee6e732be4926" /><Relationship Type="http://schemas.openxmlformats.org/officeDocument/2006/relationships/notesMaster" Target="/ppt/notesMasters/notesMaster1.xml" Id="R977e619b570a4e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65a8fbe31f489f" /><Relationship Type="http://schemas.openxmlformats.org/officeDocument/2006/relationships/notesMaster" Target="/ppt/notesMasters/notesMaster1.xml" Id="Rab505bdd93234b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68f1a073544976" /><Relationship Type="http://schemas.openxmlformats.org/officeDocument/2006/relationships/notesMaster" Target="/ppt/notesMasters/notesMaster1.xml" Id="R0063b58b28be42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60149ca4784b7a" /><Relationship Type="http://schemas.openxmlformats.org/officeDocument/2006/relationships/notesMaster" Target="/ppt/notesMasters/notesMaster1.xml" Id="R0f02a1c09c2e45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Supplemental Figure 1: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scRNA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-seq matrix generation and analysis overview. Red =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sources of variability explored in this study; Blue = plots and metrics used to assess function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similarity.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kb</a:t>
            </a:r>
            <a:r>
              <a:t> means </a:t>
            </a:r>
            <a:r>
              <a:rPr b="1"/>
              <a:t>kallisto-bustools</a:t>
            </a:r>
            <a:r>
              <a:t>, often used through </a:t>
            </a:r>
            <a:r>
              <a:rPr b="1"/>
              <a:t>kb-python</a:t>
            </a:r>
            <a:r>
              <a:t>.</a:t>
            </a:r>
          </a:p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Supplemental Figure 2: Seurat vs.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, aligned function arguments (Seurat-like arguments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used in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), sequential analysis (data is run from start to end through each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package without modification). (A) Filtering and HVG selection analysis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UpSet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plots consisting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of sets of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cells, (ii) genes, and (iii) HVGs. (B)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PCA analysis through projection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onto the first 2 PCs. (ii) Scree plot and the sine of eigenvectors. Black lines = point mapping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between conditions. (C) KNN/SNN analysis through SNN neighborhood Jaccard index and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degree ratio (Seurat/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per cell. (D) Clustering and UMAP analysis through UMAP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plots of Seurat (left) and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(right), with the alluvial diagram (middle) showing cluster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assignment mapping and degree of cluster agreement. Numbers at the bottom of the alluvial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diagram represent the total number of clusters in each group. (E)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UpSet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plot through overlap of all significant (p &lt; 0.05) marker genes across all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clusters.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Supplemental Figure 3: Seurat vs.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, default function arguments, controlled analysis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(the data created by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is replaced by the data created by Seurat following each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step, such that each step sees identical input). (A) Filtering and HVG selection analysis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UpSet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plots consisting of sets of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cells, (ii) genes, and (iii) HVGs. (B)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PCA analysis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through projection onto the first 2 PCs. (ii) Scree plot and the sine of eigenvectors. Black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lines = point mapping between conditions. (C) KNN/SNN analysis through SNN neighborhood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Jaccard index and degree ratio (Seurat/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per cell. (D) Clustering and UMAP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through UMAP plots of Seurat (left) and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(right), with the alluvial diagram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(middle) showing cluster assignment mapping and degree of cluster agreement. Numbers at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the bottom of the alluvial diagram represent the total number of clusters in each group. (E)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 through overlap of all significant (p &lt; 0.05) marker genes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across all clusters. (ii)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 with matched clusters of overlap of all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markers. (iii)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 with matched clusters of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logFC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similarity. (iv)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 with matched clusters of adjusted p-value similarity. Dataset: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10k PBMC. Dataset: 10k PBMC.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Supplemental Figure 4: Seurat vs.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, aligned function arguments (Seurat-like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arguments used in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), controlled analysis (the data created by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is replaced by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 created by Seurat following each step, such that each step sees identical input). (A)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Filtering and HVG selection analysis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UpSet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plots consisting of sets of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cells, (ii) genes, and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(iii) HVGs. (B)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PCA analysis through projection onto the first 2 PCs. (ii) Scree plot and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sine of eigenvectors. Black lines = point mapping between conditions. (C) KNN/SNN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through SNN neighborhood Jaccard index and degree ratio (Seurat/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per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cell. (D) Clustering and UMAP analysis through UMAP plots of Seurat (left) and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(right), with the alluvial diagram (middle) showing cluster assignment mapping and degree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of cluster agreement. Numbers at the bottom of the alluvial diagram represent the total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number of clusters in each group. (E)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 through overlap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of all significant (p &lt; 0.05) marker genes across all clusters. (ii)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with matched clusters of overlap of all markers. (iii)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with matched clusters of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logFC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similarity. (iv)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 with matched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clusters of adjusted p-value similarity. Dataset: 10k PBMC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Supplemental Figure 5: Seurat vs.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, aligned function arguments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-like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arguments used in Seurat), controlled analysis (the data created by Seurat is replaced by the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created by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following each step, such that each step sees identical input). (A)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Filtering and HVG selection analysis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UpSet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plots consisting of sets of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cells, (ii) genes, and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(iii) HVGs. (B)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PCA analysis through projection onto the first 2 PCs. (ii) Scree plot and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sine of eigenvectors. Black lines = point mapping between conditions. (C) KNN/SNN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through SNN neighborhood Jaccard index and degree ratio (Seurat/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per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cell. (D) Clustering and UMAP analysis through UMAP plots of Seurat (left) and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Scanpy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(right), with the alluvial diagram (middle) showing cluster assignment mapping and degree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of cluster agreement. Numbers at the bottom of the alluvial diagram represent the total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number of clusters in each group. (E) (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i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 through overlap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of all significant (p &lt; 0.05) marker genes across all clusters. (ii)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with matched clusters of overlap of all markers. (iii)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with matched clusters of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logFC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similarity. (iv) 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Di↵erential</a:t>
            </a:r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 expression analysis with matched</a:t>
            </a:r>
          </a:p>
          <a:p xmlns:a="http://schemas.openxmlformats.org/drawingml/2006/main">
            <a:r>
              <a:rPr sz="1200" b="0" i="1">
                <a:solidFill>
                  <a:schemeClr val="tx1"/>
                </a:solidFill>
                <a:latin typeface="Arial"/>
                <a:ea typeface="Arial"/>
                <a:cs typeface="Arial"/>
              </a:rPr>
              <a:t>clusters of adjusted p-value similarity. Dataset: 10k PBMC.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4a63d241c4fce" /><Relationship Type="http://schemas.openxmlformats.org/officeDocument/2006/relationships/image" Target="/ppt/media/image.png" Id="R80c98820d7ad43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ffab170db4caa" /><Relationship Type="http://schemas.openxmlformats.org/officeDocument/2006/relationships/image" Target="/ppt/media/image.png" Id="R3c7553bc1cd24e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560cc8a36451e" /><Relationship Type="http://schemas.openxmlformats.org/officeDocument/2006/relationships/image" Target="/ppt/media/image.jpeg" Id="Raed578fcbf564dc6" /><Relationship Type="http://schemas.openxmlformats.org/officeDocument/2006/relationships/image" Target="/ppt/media/image.png" Id="R6c777872ada541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ffe60314d4833" /><Relationship Type="http://schemas.openxmlformats.org/officeDocument/2006/relationships/image" Target="/ppt/media/image.png" Id="R1f446e4cb3bb4c16" /><Relationship Type="http://schemas.openxmlformats.org/officeDocument/2006/relationships/image" Target="/ppt/media/image2.png" Id="R607c43abf3954e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549b2da4e4085" /><Relationship Type="http://schemas.openxmlformats.org/officeDocument/2006/relationships/image" Target="/ppt/media/image3.png" Id="Rcd9398500ca9477d" /><Relationship Type="http://schemas.openxmlformats.org/officeDocument/2006/relationships/image" Target="/ppt/media/image4.png" Id="Rdcbb494dfbe544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e420c51c74ba9" /><Relationship Type="http://schemas.openxmlformats.org/officeDocument/2006/relationships/image" Target="/ppt/media/image.png" Id="R7e6c58cf2c7b491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9e376e6e24a20" /><Relationship Type="http://schemas.openxmlformats.org/officeDocument/2006/relationships/image" Target="/ppt/media/image.png" Id="R6adcd94ee465445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5cb62ba4240b6" /><Relationship Type="http://schemas.openxmlformats.org/officeDocument/2006/relationships/image" Target="/ppt/media/image.png" Id="R37a22fa00290491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3d8eaddbd42f8" /><Relationship Type="http://schemas.openxmlformats.org/officeDocument/2006/relationships/image" Target="/ppt/media/image5.png" Id="R0837e25163b0499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a619370384327" /><Relationship Type="http://schemas.openxmlformats.org/officeDocument/2006/relationships/image" Target="/ppt/media/image6.png" Id="Rc08485a67f0c40b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adc5f81784a69" /><Relationship Type="http://schemas.openxmlformats.org/officeDocument/2006/relationships/image" Target="/ppt/media/image6.png" Id="R5016dc0c23674b3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ae4559a4a4355" /><Relationship Type="http://schemas.openxmlformats.org/officeDocument/2006/relationships/image" Target="/ppt/media/image6.png" Id="R5fba04f6f94f43d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2c961b58545a6" /><Relationship Type="http://schemas.openxmlformats.org/officeDocument/2006/relationships/image" Target="/ppt/media/image6.png" Id="R856913c1cdf84f6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6ef4fc0cd42f6" /><Relationship Type="http://schemas.openxmlformats.org/officeDocument/2006/relationships/image" Target="/ppt/media/image6.png" Id="R1ed858663dab4c7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716c5110941cf" /><Relationship Type="http://schemas.openxmlformats.org/officeDocument/2006/relationships/image" Target="/ppt/media/image6.png" Id="Rf052d61878fe4a9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3263cf4d447ef" /><Relationship Type="http://schemas.openxmlformats.org/officeDocument/2006/relationships/image" Target="/ppt/media/image6.png" Id="Rd3979456838a482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59c0460614391" /><Relationship Type="http://schemas.openxmlformats.org/officeDocument/2006/relationships/image" Target="/ppt/media/image6.png" Id="Re53f7b611f51430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22c3866374bd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f316e5eae48f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1fd888f5a4089" /><Relationship Type="http://schemas.openxmlformats.org/officeDocument/2006/relationships/image" Target="/ppt/media/image2.png" Id="Rf2e88e16024b431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9b9c74b754d38" /><Relationship Type="http://schemas.openxmlformats.org/officeDocument/2006/relationships/image" Target="/ppt/media/image4.png" Id="R39896d834ba94b4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88bc54988479f" /><Relationship Type="http://schemas.openxmlformats.org/officeDocument/2006/relationships/image" Target="/ppt/media/image.jpeg" Id="R88fff76055ff4a6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bd5fabe5e4154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578307b1f4f9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0f2a15b724d6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15d81d9424275" /><Relationship Type="http://schemas.openxmlformats.org/officeDocument/2006/relationships/image" Target="/ppt/media/image6.png" Id="R56f4d1f064ba469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cba1f6e0f4006" /><Relationship Type="http://schemas.openxmlformats.org/officeDocument/2006/relationships/image" Target="/ppt/media/image.png" Id="Rc03e4d86559a4a07" /><Relationship Type="http://schemas.openxmlformats.org/officeDocument/2006/relationships/image" Target="/ppt/media/image2.png" Id="Rbdfb4f3a322541d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acecb39434332" /><Relationship Type="http://schemas.openxmlformats.org/officeDocument/2006/relationships/image" Target="/ppt/media/image.png" Id="Rb12ed4bf39b14731" /><Relationship Type="http://schemas.openxmlformats.org/officeDocument/2006/relationships/image" Target="/ppt/media/image2.png" Id="R01f1a9664b9d48b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df6fe8a294272" /><Relationship Type="http://schemas.openxmlformats.org/officeDocument/2006/relationships/image" Target="/ppt/media/image.jpeg" Id="R8d90cb68fcc34fad" /><Relationship Type="http://schemas.openxmlformats.org/officeDocument/2006/relationships/image" Target="/ppt/media/image.png" Id="Ra75fbfc48ab2471c" /></Relationships>
</file>

<file path=ppt/slideLayouts/slideLayout1.xml><?xml version="1.0" encoding="utf-8"?>
<p:sldLayout xmlns:p="http://schemas.openxmlformats.org/presentationml/2006/main" type="title" preserve="1">
  <p:cSld name="Title Slide - UAB G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pic>
        <p:nvPicPr>
          <p:cNvPr id="10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98820d7ad43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79431"/>
            <a:ext cx="4615489" cy="91395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2.xml><?xml version="1.0" encoding="utf-8"?>
<p:sldLayout xmlns:p="http://schemas.openxmlformats.org/presentationml/2006/main" type="title" preserve="1">
  <p:cSld name="Title Slide - Dragon's Lair G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pic>
        <p:nvPicPr>
          <p:cNvPr id="10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553bc1cd24e7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79431"/>
            <a:ext cx="4615489" cy="91395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3.xml><?xml version="1.0" encoding="utf-8"?>
<p:sldLayout xmlns:p="http://schemas.openxmlformats.org/presentationml/2006/main" type="title" preserve="1">
  <p:cSld name="Title Slide - Monogram Pattern">
    <p:bg>
      <p:bgPr>
        <a:blipFill xmlns:a="http://schemas.openxmlformats.org/drawingml/2006/main">
          <a:blip xmlns:r="http://schemas.openxmlformats.org/officeDocument/2006/relationships" r:embed="Raed578fcbf564dc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04E2F12-739F-148B-7123-7B9F9DF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72150"/>
            <a:ext cx="5143500" cy="1085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33045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3810131"/>
            <a:ext cx="9144000" cy="55863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pic>
        <p:nvPicPr>
          <p:cNvPr id="12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77872ada541a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12505" y="6099234"/>
            <a:ext cx="4615489" cy="91395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4.xml><?xml version="1.0" encoding="utf-8"?>
<p:sldLayout xmlns:p="http://schemas.openxmlformats.org/presentationml/2006/main" type="title" preserve="1">
  <p:cSld name="Title Slide - Badge - UAB G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46e4cb3bb4c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79431"/>
            <a:ext cx="4615489" cy="913959"/>
          </a:xfrm>
          <a:prstGeom xmlns:a="http://schemas.openxmlformats.org/drawingml/2006/main" prst="rect">
            <a:avLst/>
          </a:prstGeom>
        </p:spPr>
      </p:pic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- Badge</a:t>
            </a:r>
          </a:p>
        </p:txBody>
      </p:sp>
      <p:pic>
        <p:nvPicPr>
          <p:cNvPr id="11" name="Graphic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c43abf3954e55">
            <a:alphaModFix amt="8000"/>
          </a:blip>
          <a:srcRect xmlns:a="http://schemas.openxmlformats.org/drawingml/2006/main" l="0" t="10829" r="0" b="10829"/>
          <a:stretch xmlns:a="http://schemas.openxmlformats.org/drawingml/2006/main"/>
        </p:blipFill>
        <p:spPr>
          <a:xfrm xmlns:a="http://schemas.openxmlformats.org/drawingml/2006/main">
            <a:off x="3285377" y="0"/>
            <a:ext cx="9186843" cy="7197213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5.xml><?xml version="1.0" encoding="utf-8"?>
<p:sldLayout xmlns:p="http://schemas.openxmlformats.org/presentationml/2006/main" preserve="1" userDrawn="1">
  <p:cSld name="Title Slide - Badge - Wh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ubtitle 2">
            <a:extLst xmlns:a="http://schemas.openxmlformats.org/drawingml/2006/main">
              <a:ext uri="{FF2B5EF4-FFF2-40B4-BE49-F238E27FC236}">
                <a16:creationId xmlns:a16="http://schemas.microsoft.com/office/drawing/2014/main" id="{80266990-FE93-48F7-AFFF-BA2D7639B9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615376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0B2FC672-E957-FC5C-B431-007B5F5FB88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1999" y="1876586"/>
            <a:ext cx="9615377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– Badge - White</a:t>
            </a:r>
          </a:p>
        </p:txBody>
      </p:sp>
      <p:pic>
        <p:nvPicPr>
          <p:cNvPr id="6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398500ca9477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45977"/>
            <a:ext cx="4615489" cy="484397"/>
          </a:xfrm>
          <a:prstGeom xmlns:a="http://schemas.openxmlformats.org/drawingml/2006/main" prst="rect">
            <a:avLst/>
          </a:prstGeom>
        </p:spPr>
      </p:pic>
      <p:pic>
        <p:nvPicPr>
          <p:cNvPr id="7" name="Graphic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b494dfbe54447">
            <a:alphaModFix amt="6000"/>
          </a:blip>
          <a:srcRect xmlns:a="http://schemas.openxmlformats.org/drawingml/2006/main" l="0" t="10829" r="3050" b="14521"/>
          <a:stretch xmlns:a="http://schemas.openxmlformats.org/drawingml/2006/main"/>
        </p:blipFill>
        <p:spPr>
          <a:xfrm xmlns:a="http://schemas.openxmlformats.org/drawingml/2006/main">
            <a:off x="3285375" y="0"/>
            <a:ext cx="8906625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Title Slide - Gradient #1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9EF6E62-8833-69A6-FF19-3B62920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– Gradient #1</a:t>
            </a:r>
          </a:p>
        </p:txBody>
      </p:sp>
      <p:sp>
        <p:nvSpPr>
          <p:cNvPr id="5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pic>
        <p:nvPicPr>
          <p:cNvPr id="12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c58cf2c7b491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79431"/>
            <a:ext cx="4615489" cy="913959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96A346-BC22-B60A-8007-0A3D4AFE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preserve="1" userDrawn="1">
  <p:cSld name="Title Slide - Gradient #1 with Gold B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BAA40BA-E3E3-051E-9DC3-67DDF588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– Gradient #1 with Gold Bar</a:t>
            </a:r>
          </a:p>
        </p:txBody>
      </p:sp>
      <p:sp>
        <p:nvSpPr>
          <p:cNvPr id="8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8678"/>
            <a:ext cx="12192000" cy="269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69000">
                <a:schemeClr val="accent2"/>
              </a:gs>
              <a:gs pos="0">
                <a:schemeClr val="accent2">
                  <a:lumMod val="48000"/>
                  <a:lumOff val="52000"/>
                </a:schemeClr>
              </a:gs>
            </a:gsLst>
            <a:lin ang="18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cd94ee465445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79431"/>
            <a:ext cx="4615489" cy="91395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8.xml><?xml version="1.0" encoding="utf-8"?>
<p:sldLayout xmlns:p="http://schemas.openxmlformats.org/presentationml/2006/main" preserve="1" userDrawn="1">
  <p:cSld name="Title Slide - Gradient #2">
    <p:bg>
      <p:bgPr>
        <a:gradFill xmlns:a="http://schemas.openxmlformats.org/drawingml/2006/main">
          <a:gsLst>
            <a:gs pos="6000">
              <a:schemeClr val="accent5"/>
            </a:gs>
            <a:gs pos="65000">
              <a:schemeClr val="accent1"/>
            </a:gs>
            <a:gs pos="100000">
              <a:schemeClr val="accent3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73000">
                <a:schemeClr val="accent1"/>
              </a:gs>
              <a:gs pos="98000">
                <a:schemeClr val="accent3"/>
              </a:gs>
              <a:gs pos="6000">
                <a:schemeClr val="accent5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A9DD234-377A-C202-A52D-BDBAD4FF132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– Gradient #2</a:t>
            </a:r>
          </a:p>
        </p:txBody>
      </p:sp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67303A12-A6ED-C9F0-60E1-DE38BCFBD0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pic>
        <p:nvPicPr>
          <p:cNvPr id="11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22fa0029049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79431"/>
            <a:ext cx="4615489" cy="91395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9.xml><?xml version="1.0" encoding="utf-8"?>
<p:sldLayout xmlns:p="http://schemas.openxmlformats.org/presentationml/2006/main" preserve="1" userDrawn="1">
  <p:cSld name="Agenda 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62551" y="1893768"/>
            <a:ext cx="9149800" cy="3930960"/>
          </a:xfrm>
        </p:spPr>
        <p:txBody>
          <a:bodyPr xmlns:a="http://schemas.openxmlformats.org/drawingml/2006/main"/>
          <a:lstStyle xmlns:a="http://schemas.openxmlformats.org/drawingml/2006/main">
            <a:lvl1pPr marL="457178" indent="-457178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914354" indent="-457178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 marL="1257238" indent="-342882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 marL="1714414" indent="-342882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 marL="2171592" indent="-342882">
              <a:lnSpc>
                <a:spcPct val="100000"/>
              </a:lnSpc>
              <a:buAutoNum type="arabicPeriod"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2553" y="927106"/>
            <a:ext cx="9149799" cy="4500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Agenda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B3EB6843-490D-4316-A940-F5F6C66C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2552" y="1596096"/>
            <a:ext cx="1004341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4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7e25163b049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551" y="6066372"/>
            <a:ext cx="2538210" cy="50261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13261" y="2730355"/>
            <a:ext cx="4621423" cy="3077488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6360" y="476722"/>
            <a:ext cx="10638053" cy="768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>
              <a:buNone/>
              <a:defRPr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Executive Summary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2985"/>
            <a:ext cx="12192000" cy="4650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54797FC3-DC33-DA47-95F6-F7EB925D69E8}" type="slidenum">
              <a:t>‹#›</a:t>
            </a:fld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9118CD69-56DB-4141-8DE0-5F26B273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347" y="625959"/>
            <a:ext cx="0" cy="2323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013259" y="2174380"/>
            <a:ext cx="4621420" cy="43542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Introduction</a:t>
            </a: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9D8005EA-F034-4289-A6AC-0BA7BAE6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22627"/>
            <a:ext cx="0" cy="358521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557325" y="2730355"/>
            <a:ext cx="4621423" cy="3077488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557322" y="2174380"/>
            <a:ext cx="4621420" cy="43542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Objectives</a:t>
            </a:r>
          </a:p>
        </p:txBody>
      </p:sp>
      <p:pic>
        <p:nvPicPr>
          <p:cNvPr id="20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485a67f0c40b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FC670008-D2B8-38B4-FC72-EBC75947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00354"/>
            <a:ext cx="12192000" cy="20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Code, Chat, &amp; Collab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6895CA-194A-471C-05F9-94C206DD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57" y="6593168"/>
            <a:ext cx="1602684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6364" y="476722"/>
            <a:ext cx="10636465" cy="768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and Text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54797FC3-DC33-DA47-95F6-F7EB925D69E8}" type="slidenum">
              <a:t>‹#›</a:t>
            </a:fld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E104496A-953C-4758-AB07-C7F3F89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347" y="625959"/>
            <a:ext cx="0" cy="2323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2985"/>
            <a:ext cx="12192000" cy="4650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57" y="6593168"/>
            <a:ext cx="1602684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  <p:pic>
        <p:nvPicPr>
          <p:cNvPr id="17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6dc0c23674b3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  <p:sp>
        <p:nvSpPr>
          <p:cNvPr id="4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442D8E3-D9BC-AD09-82A6-03BB8CED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00354"/>
            <a:ext cx="12192000" cy="20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Code, Chat, &amp; Collab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Title and Text -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36360" y="1645670"/>
            <a:ext cx="5306656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6361" y="476722"/>
            <a:ext cx="10636464" cy="768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and Text – Two Columns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52764" y="1645670"/>
            <a:ext cx="5306656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54797FC3-DC33-DA47-95F6-F7EB925D69E8}" type="slidenum">
              <a:t>‹#›</a:t>
            </a:fld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9BC07170-DAB5-490B-89A5-F1E8600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347" y="625959"/>
            <a:ext cx="0" cy="2323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6395989"/>
            <a:ext cx="12192000" cy="4650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a04f6f94f43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  <p:sp>
        <p:nvSpPr>
          <p:cNvPr id="4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F7937BF6-D120-BCE9-9CE8-FB32C401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00354"/>
            <a:ext cx="12192000" cy="20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Code, Chat, &amp; Collab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2B432A-899A-21DE-5D8B-ABFEFF49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57" y="6593168"/>
            <a:ext cx="1602684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itle and Text - Three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36365" y="1645669"/>
            <a:ext cx="3285783" cy="4532881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6361" y="476722"/>
            <a:ext cx="10636464" cy="768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and Text – Three Columns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54797FC3-DC33-DA47-95F6-F7EB925D69E8}" type="slidenum">
              <a:t>‹#›</a:t>
            </a:fld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FE936365-91D0-407F-B04D-F68615C5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347" y="625959"/>
            <a:ext cx="0" cy="2323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453113" y="1645669"/>
            <a:ext cx="3285783" cy="4532881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369861" y="1645669"/>
            <a:ext cx="3285783" cy="4532881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2985"/>
            <a:ext cx="12192000" cy="4650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913c1cdf84f6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  <p:sp>
        <p:nvSpPr>
          <p:cNvPr id="4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DF43F77B-627A-FE63-7B6E-8592FEE0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00354"/>
            <a:ext cx="12192000" cy="20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Code, Chat, &amp; Collab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11EE4D-74AE-6A18-CDCB-25CE08B1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57" y="6593168"/>
            <a:ext cx="1602684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Title and Text - Four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36363" y="1645670"/>
            <a:ext cx="2483999" cy="453288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1pPr>
            <a:lvl2pPr marL="457178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2pPr>
            <a:lvl3pPr marL="914354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3pPr>
            <a:lvl4pPr marL="1371532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4pPr>
            <a:lvl5pPr marL="1828709" indent="0">
              <a:lnSpc>
                <a:spcPct val="100000"/>
              </a:lnSpc>
              <a:buNone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6361" y="476722"/>
            <a:ext cx="10636464" cy="768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and Text – Four Columns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54797FC3-DC33-DA47-95F6-F7EB925D69E8}" type="slidenum">
              <a:t>‹#›</a:t>
            </a:fld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4F910917-DC1E-4B3A-B4E0-A6D2A0D2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347" y="625959"/>
            <a:ext cx="0" cy="2323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3414791" y="1645670"/>
            <a:ext cx="2483999" cy="453288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6293218" y="1645670"/>
            <a:ext cx="2483999" cy="453288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9171645" y="1645670"/>
            <a:ext cx="2483999" cy="453288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2985"/>
            <a:ext cx="12192000" cy="4650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858663dab4c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  <p:sp>
        <p:nvSpPr>
          <p:cNvPr id="4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3FE1B0BF-38EF-A608-A7A4-90D22044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00354"/>
            <a:ext cx="12192000" cy="20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Code, Chat, &amp; Collab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CC28FB0-48B2-A080-E3E4-ADBDFC66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57" y="6593168"/>
            <a:ext cx="1602684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Text with Custom Pictur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36361" y="1645669"/>
            <a:ext cx="4979776" cy="4532881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1pPr>
            <a:lvl2pPr marL="800078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2pPr>
            <a:lvl3pPr marL="1200104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3pPr>
            <a:lvl4pPr marL="1657282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4pPr>
            <a:lvl5pPr marL="2114459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2985"/>
            <a:ext cx="12192000" cy="4650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2"/>
                </a:solidFill>
                <a:latin typeface="Proxima Nova Rg"/>
                <a:ea typeface="Proxima Nova Rg"/>
                <a:cs typeface="Proxima Nova Rg"/>
              </a:defRPr>
            </a:lvl1pPr>
          </a:lstStyle>
          <a:p xmlns:a="http://schemas.openxmlformats.org/drawingml/2006/main">
            <a:fld id="{54797FC3-DC33-DA47-95F6-F7EB925D69E8}" type="slidenum">
              <a:rPr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742C2E05-2AC8-4155-A4B7-7173DF5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347" y="625959"/>
            <a:ext cx="0" cy="2323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9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2d61878fe4a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B408DD3-5A2B-A2A7-5BF1-E1E18CEC1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DAA9C90-9C2C-BA69-2680-ECDAFF72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00354"/>
            <a:ext cx="12192000" cy="20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Code, Chat, &amp; Collab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8E59DF0-023A-6168-9340-5A7ABAD7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57" y="6593168"/>
            <a:ext cx="1602684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Text with Pictur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36361" y="1645669"/>
            <a:ext cx="4979776" cy="4532881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1pPr>
            <a:lvl2pPr marL="800078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2pPr>
            <a:lvl3pPr marL="1200104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3pPr>
            <a:lvl4pPr marL="1657282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4pPr>
            <a:lvl5pPr marL="2114459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943936" y="1645669"/>
            <a:ext cx="5830976" cy="453288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b="0" i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2985"/>
            <a:ext cx="12192000" cy="4650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2"/>
                </a:solidFill>
                <a:latin typeface="Proxima Nova Rg"/>
                <a:ea typeface="Proxima Nova Rg"/>
                <a:cs typeface="Proxima Nova Rg"/>
              </a:defRPr>
            </a:lvl1pPr>
          </a:lstStyle>
          <a:p xmlns:a="http://schemas.openxmlformats.org/drawingml/2006/main">
            <a:fld id="{54797FC3-DC33-DA47-95F6-F7EB925D69E8}" type="slidenum">
              <a:rPr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AB80A73F-7100-4E83-A29D-97D6D0C6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347" y="625959"/>
            <a:ext cx="0" cy="2323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79456838a482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B408DD3-5A2B-A2A7-5BF1-E1E18CEC1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1B5F36C-ABDB-535B-8FA1-EF74C24A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5415" y="-21265"/>
            <a:ext cx="3615027" cy="563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INSERT IMAGE: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”Insert”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”Picture”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”From a File”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ADD IMAGE TO IMAGE BOX: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the image icon in the empty image box on the slide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CHANGE IMAGE: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*Right-click*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on the image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*Select*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”Change Picture”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”From a File”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REPOSITION  IMAGE: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on the image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*Select*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”Picture Format” in toolbar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”Crop” Button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 Adjust the photo position or size</a:t>
            </a:r>
            <a:br/>
          </a:p>
        </p:txBody>
      </p:sp>
      <p:sp>
        <p:nvSpPr>
          <p:cNvPr id="5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2D334047-F3BB-CCC2-5554-0A39549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00354"/>
            <a:ext cx="12192000" cy="20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Code, Chat, &amp; Collab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7951CFB-189C-43C3-D427-B4FBD03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57" y="6593168"/>
            <a:ext cx="1602684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Text with Pictur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0" y="6"/>
            <a:ext cx="6096000" cy="639297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b="0" i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568041" y="1645669"/>
            <a:ext cx="4979776" cy="4532881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1pPr>
            <a:lvl2pPr marL="800078" indent="-34290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2pPr>
            <a:lvl3pPr marL="1200104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3pPr>
            <a:lvl4pPr marL="1657282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4pPr>
            <a:lvl5pPr marL="2114459" indent="-285750">
              <a:lnSpc>
                <a:spcPct val="100000"/>
              </a:lnSpc>
              <a:buChar char="•"/>
              <a:defRPr b="0" i="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568041" y="476722"/>
            <a:ext cx="4610704" cy="768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Text with Picture Left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54797FC3-DC33-DA47-95F6-F7EB925D69E8}" type="slidenum">
              <a:t>‹#›</a:t>
            </a:fld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A364FCEA-8876-48FC-98FA-7949A36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347" y="625959"/>
            <a:ext cx="0" cy="2323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99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2985"/>
            <a:ext cx="12192000" cy="4650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f7b611f5143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1464A58-AE88-3C34-3334-C1D015C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5415" y="-21265"/>
            <a:ext cx="3615027" cy="563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INSERT IMAGE: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”Insert”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”Picture”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”From a File”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ADD IMAGE TO IMAGE BOX: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the image icon in the empty image box on the slide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CHANGE IMAGE: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*Right-click*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on the image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*Select*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”Change Picture”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”From a File”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</a:t>
            </a:r>
            <a:br/>
            <a:br/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TO REPOSITION  IMAGE: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on the image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*Select*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”Picture Format” in toolbar 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*Click* </a:t>
            </a:r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”Crop” Button</a:t>
            </a:r>
            <a:br/>
            <a:r>
              <a:rPr sz="1500" b="0" i="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-  Adjust the photo position or size</a:t>
            </a:r>
            <a:br/>
          </a:p>
        </p:txBody>
      </p:sp>
      <p:sp>
        <p:nvSpPr>
          <p:cNvPr id="5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075030A-9E47-09AB-0712-CA4B500E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00354"/>
            <a:ext cx="12192000" cy="20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algn="ctr">
              <a:buNone/>
              <a:defRPr sz="10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Code, Chat, &amp; Collab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EE4572C-9350-DD72-6F2F-31774056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57" y="6593168"/>
            <a:ext cx="1602684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Informatics Club. All Rights Reserved.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Section Divider - UAB G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Section Divider – </a:t>
            </a:r>
            <a:br/>
            <a:r>
              <a:t>UAB Green</a:t>
            </a:r>
          </a:p>
        </p:txBody>
      </p:sp>
      <p:sp>
        <p:nvSpPr>
          <p:cNvPr id="11" name="Subtitle 2">
            <a:extLst xmlns:a="http://schemas.openxmlformats.org/drawingml/2006/main"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preserve="1" userDrawn="1">
  <p:cSld name="Section Divider - Dragon's Lai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Section Divider – Dragon’s Lair Green</a:t>
            </a:r>
          </a:p>
        </p:txBody>
      </p:sp>
      <p:sp>
        <p:nvSpPr>
          <p:cNvPr id="11" name="Subtitle 2">
            <a:extLst xmlns:a="http://schemas.openxmlformats.org/drawingml/2006/main"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preserve="1" userDrawn="1">
  <p:cSld name="Section Divider - Badge - UAB G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3" y="1876586"/>
            <a:ext cx="9150351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Section Divider – Badge – UAB Green</a:t>
            </a:r>
          </a:p>
        </p:txBody>
      </p:sp>
      <p:sp>
        <p:nvSpPr>
          <p:cNvPr id="11" name="Subtitle 2">
            <a:extLst xmlns:a="http://schemas.openxmlformats.org/drawingml/2006/main"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3" y="4356261"/>
            <a:ext cx="9150351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pic>
        <p:nvPicPr>
          <p:cNvPr id="12" name="Graphic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88e16024b431b">
            <a:alphaModFix amt="8000"/>
          </a:blip>
          <a:srcRect xmlns:a="http://schemas.openxmlformats.org/drawingml/2006/main" l="0" t="10829" r="0" b="10829"/>
          <a:stretch xmlns:a="http://schemas.openxmlformats.org/drawingml/2006/main"/>
        </p:blipFill>
        <p:spPr>
          <a:xfrm xmlns:a="http://schemas.openxmlformats.org/drawingml/2006/main">
            <a:off x="3285377" y="0"/>
            <a:ext cx="9186843" cy="7197213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21.xml><?xml version="1.0" encoding="utf-8"?>
<p:sldLayout xmlns:p="http://schemas.openxmlformats.org/presentationml/2006/main" preserve="1" userDrawn="1">
  <p:cSld name="Section Divider - Badge - Wh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ubtitle 2">
            <a:extLst xmlns:a="http://schemas.openxmlformats.org/drawingml/2006/main">
              <a:ext uri="{FF2B5EF4-FFF2-40B4-BE49-F238E27FC236}">
                <a16:creationId xmlns:a16="http://schemas.microsoft.com/office/drawing/2014/main" id="{80266990-FE93-48F7-AFFF-BA2D7639B9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0B2FC672-E957-FC5C-B431-007B5F5FB88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Section Divider – Badge White</a:t>
            </a:r>
          </a:p>
        </p:txBody>
      </p:sp>
      <p:pic>
        <p:nvPicPr>
          <p:cNvPr id="6" name="Graphic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96d834ba94b40">
            <a:alphaModFix amt="6000"/>
          </a:blip>
          <a:srcRect xmlns:a="http://schemas.openxmlformats.org/drawingml/2006/main" l="0" t="10829" r="3050" b="14521"/>
          <a:stretch xmlns:a="http://schemas.openxmlformats.org/drawingml/2006/main"/>
        </p:blipFill>
        <p:spPr>
          <a:xfrm xmlns:a="http://schemas.openxmlformats.org/drawingml/2006/main">
            <a:off x="3285375" y="0"/>
            <a:ext cx="8906625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2.xml><?xml version="1.0" encoding="utf-8"?>
<p:sldLayout xmlns:p="http://schemas.openxmlformats.org/presentationml/2006/main" preserve="1" userDrawn="1">
  <p:cSld name="Section Divider - Monogram Pattern">
    <p:bg>
      <p:bgPr>
        <a:blipFill xmlns:a="http://schemas.openxmlformats.org/drawingml/2006/main">
          <a:blip xmlns:r="http://schemas.openxmlformats.org/officeDocument/2006/relationships" r:embed="R88fff76055ff4a6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7D7BB8BC-1D47-670A-0AA2-A571E8E5B97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Section Divider – Monogram Pattern</a:t>
            </a:r>
          </a:p>
        </p:txBody>
      </p:sp>
      <p:sp>
        <p:nvSpPr>
          <p:cNvPr id="5" name="Subtitle 2">
            <a:extLst xmlns:a="http://schemas.openxmlformats.org/drawingml/2006/main">
              <a:ext uri="{FF2B5EF4-FFF2-40B4-BE49-F238E27FC236}">
                <a16:creationId xmlns:a16="http://schemas.microsoft.com/office/drawing/2014/main" id="{2893A669-59E5-96D4-69DD-87F0EDD897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preserve="1" userDrawn="1">
  <p:cSld name="Section Divider - Gradient #1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9EF6E62-8833-69A6-FF19-3B62920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Section Divider– Gradient #1</a:t>
            </a:r>
          </a:p>
        </p:txBody>
      </p:sp>
      <p:sp>
        <p:nvSpPr>
          <p:cNvPr id="5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96A346-BC22-B60A-8007-0A3D4AFE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preserve="1" userDrawn="1">
  <p:cSld name="Section Divider - Gradient #1 with Gold B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BAA40BA-E3E3-051E-9DC3-67DDF588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1999" y="1876586"/>
            <a:ext cx="9726707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Section Divider – Gradient #1 with Gold Bar</a:t>
            </a:r>
          </a:p>
        </p:txBody>
      </p:sp>
      <p:sp>
        <p:nvSpPr>
          <p:cNvPr id="8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8678"/>
            <a:ext cx="12192000" cy="269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69000">
                <a:schemeClr val="accent2"/>
              </a:gs>
              <a:gs pos="0">
                <a:schemeClr val="accent2">
                  <a:lumMod val="48000"/>
                  <a:lumOff val="52000"/>
                </a:schemeClr>
              </a:gs>
            </a:gsLst>
            <a:lin ang="18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Section Divider - Gradient #2 Background">
    <p:bg>
      <p:bgPr>
        <a:gradFill xmlns:a="http://schemas.openxmlformats.org/drawingml/2006/main">
          <a:gsLst>
            <a:gs pos="6000">
              <a:schemeClr val="accent5"/>
            </a:gs>
            <a:gs pos="65000">
              <a:schemeClr val="accent1"/>
            </a:gs>
            <a:gs pos="100000">
              <a:schemeClr val="accent3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73000">
                <a:schemeClr val="accent1"/>
              </a:gs>
              <a:gs pos="98000">
                <a:schemeClr val="accent3"/>
              </a:gs>
              <a:gs pos="6000">
                <a:schemeClr val="accent5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Section Divider – Gradient #2</a:t>
            </a:r>
          </a:p>
        </p:txBody>
      </p:sp>
      <p:sp>
        <p:nvSpPr>
          <p:cNvPr id="5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35626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Contact us - Option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6361" y="476722"/>
            <a:ext cx="10636464" cy="768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Contact us - Option 2</a:t>
            </a:r>
          </a:p>
        </p:txBody>
      </p:sp>
      <p:sp>
        <p:nvSpPr>
          <p:cNvPr id="17" name="Google Shape;1039;p98">
            <a:extLst xmlns:a="http://schemas.openxmlformats.org/drawingml/2006/main"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43" y="2728768"/>
            <a:ext cx="299728" cy="299807"/>
          </a:xfrm>
          <a:custGeom xmlns:a="http://schemas.openxmlformats.org/drawingml/2006/main">
            <a:rect l="l" t="t" r="r" b="b"/>
            <a:pathLst>
              <a:path w="379" h="38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063;p98">
            <a:extLst xmlns:a="http://schemas.openxmlformats.org/drawingml/2006/main"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45" y="4137364"/>
            <a:ext cx="299727" cy="230084"/>
          </a:xfrm>
          <a:custGeom xmlns:a="http://schemas.openxmlformats.org/drawingml/2006/main">
            <a:rect l="l" t="t" r="r" b="b"/>
            <a:pathLst>
              <a:path w="380" h="289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1234;p98">
            <a:extLst xmlns:a="http://schemas.openxmlformats.org/drawingml/2006/main"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43" y="4747608"/>
            <a:ext cx="296245" cy="296322"/>
          </a:xfrm>
          <a:custGeom xmlns:a="http://schemas.openxmlformats.org/drawingml/2006/main">
            <a:rect l="l" t="t" r="r" b="b"/>
            <a:pathLst>
              <a:path w="375" h="375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1349;p98">
            <a:extLst xmlns:a="http://schemas.openxmlformats.org/drawingml/2006/main"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25" y="3401692"/>
            <a:ext cx="264875" cy="362557"/>
          </a:xfrm>
          <a:custGeom xmlns:a="http://schemas.openxmlformats.org/drawingml/2006/main">
            <a:rect l="l" t="t" r="r" b="b"/>
            <a:pathLst>
              <a:path w="335" h="46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297156" y="2654243"/>
            <a:ext cx="9875669" cy="448844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Phone</a:t>
            </a:r>
          </a:p>
        </p:txBody>
      </p:sp>
      <p:sp>
        <p:nvSpPr>
          <p:cNvPr id="2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297156" y="3379173"/>
            <a:ext cx="9875669" cy="448844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Address</a:t>
            </a:r>
          </a:p>
        </p:txBody>
      </p:sp>
      <p:sp>
        <p:nvSpPr>
          <p:cNvPr id="3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297156" y="4021724"/>
            <a:ext cx="9875669" cy="448844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Email</a:t>
            </a:r>
          </a:p>
        </p:txBody>
      </p:sp>
      <p:sp>
        <p:nvSpPr>
          <p:cNvPr id="3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297156" y="4680751"/>
            <a:ext cx="9875669" cy="448844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Website</a:t>
            </a:r>
          </a:p>
        </p:txBody>
      </p:sp>
      <p:sp>
        <p:nvSpPr>
          <p:cNvPr id="32" name="Straight Connector 31">
            <a:extLst xmlns:a="http://schemas.openxmlformats.org/drawingml/2006/main">
              <a:ext uri="{FF2B5EF4-FFF2-40B4-BE49-F238E27FC236}">
                <a16:creationId xmlns:a16="http://schemas.microsoft.com/office/drawing/2014/main" id="{BED90389-06EE-4050-91A0-54D8D962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60" y="2520071"/>
            <a:ext cx="0" cy="268330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111" y="6593168"/>
            <a:ext cx="1136530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UAB. All Rights Reserved.</a:t>
            </a:r>
          </a:p>
        </p:txBody>
      </p:sp>
      <p:pic>
        <p:nvPicPr>
          <p:cNvPr id="34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4d1f064ba469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359" y="6532449"/>
            <a:ext cx="1763519" cy="34921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7.xml><?xml version="1.0" encoding="utf-8"?>
<p:sldLayout xmlns:p="http://schemas.openxmlformats.org/presentationml/2006/main" preserve="1" userDrawn="1">
  <p:cSld name="Ending Slide - Badge - UAB G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Thank you!</a:t>
            </a:r>
          </a:p>
        </p:txBody>
      </p:sp>
      <p:pic>
        <p:nvPicPr>
          <p:cNvPr id="9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e4d86559a4a0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79431"/>
            <a:ext cx="4615489" cy="913959"/>
          </a:xfrm>
          <a:prstGeom xmlns:a="http://schemas.openxmlformats.org/drawingml/2006/main" prst="rect">
            <a:avLst/>
          </a:prstGeom>
        </p:spPr>
      </p:pic>
      <p:pic>
        <p:nvPicPr>
          <p:cNvPr id="10" name="Graphic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b4f3a322541dc">
            <a:alphaModFix amt="8000"/>
          </a:blip>
          <a:srcRect xmlns:a="http://schemas.openxmlformats.org/drawingml/2006/main" l="0" t="10829" r="0" b="10829"/>
          <a:stretch xmlns:a="http://schemas.openxmlformats.org/drawingml/2006/main"/>
        </p:blipFill>
        <p:spPr>
          <a:xfrm xmlns:a="http://schemas.openxmlformats.org/drawingml/2006/main">
            <a:off x="3285377" y="0"/>
            <a:ext cx="9186843" cy="7197213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28.xml><?xml version="1.0" encoding="utf-8"?>
<p:sldLayout xmlns:p="http://schemas.openxmlformats.org/presentationml/2006/main" preserve="1" userDrawn="1">
  <p:cSld name="Ending Slide - Badge - Dragon's Lai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Thank you!</a:t>
            </a:r>
          </a:p>
        </p:txBody>
      </p:sp>
      <p:pic>
        <p:nvPicPr>
          <p:cNvPr id="9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ed4bf39b1473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6569" y="879431"/>
            <a:ext cx="4615489" cy="913959"/>
          </a:xfrm>
          <a:prstGeom xmlns:a="http://schemas.openxmlformats.org/drawingml/2006/main" prst="rect">
            <a:avLst/>
          </a:prstGeom>
        </p:spPr>
      </p:pic>
      <p:pic>
        <p:nvPicPr>
          <p:cNvPr id="10" name="Graphic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1a9664b9d48bb">
            <a:alphaModFix amt="8000"/>
          </a:blip>
          <a:srcRect xmlns:a="http://schemas.openxmlformats.org/drawingml/2006/main" l="0" t="10829" r="0" b="10829"/>
          <a:stretch xmlns:a="http://schemas.openxmlformats.org/drawingml/2006/main"/>
        </p:blipFill>
        <p:spPr>
          <a:xfrm xmlns:a="http://schemas.openxmlformats.org/drawingml/2006/main">
            <a:off x="3285377" y="0"/>
            <a:ext cx="9186843" cy="7197213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29.xml><?xml version="1.0" encoding="utf-8"?>
<p:sldLayout xmlns:p="http://schemas.openxmlformats.org/presentationml/2006/main" preserve="1" userDrawn="1">
  <p:cSld name="Ending Slide - Monogram Pattern">
    <p:bg>
      <p:bgPr>
        <a:blipFill xmlns:a="http://schemas.openxmlformats.org/drawingml/2006/main">
          <a:blip xmlns:r="http://schemas.openxmlformats.org/officeDocument/2006/relationships" r:embed="R8d90cb68fcc34fa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0B66C486-2870-708F-E70D-D2D0C47B997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62000" y="1876586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Thank you!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141A9B5-3FA5-7785-AF5A-0A412B1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72150"/>
            <a:ext cx="5143500" cy="1085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fbfc48ab2471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12505" y="6099234"/>
            <a:ext cx="4615489" cy="91395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0df61abd58472f" /><Relationship Type="http://schemas.openxmlformats.org/officeDocument/2006/relationships/slideLayout" Target="/ppt/slideLayouts/slideLayout1.xml" Id="Rfbe55b2db762427e" /><Relationship Type="http://schemas.openxmlformats.org/officeDocument/2006/relationships/slideLayout" Target="/ppt/slideLayouts/slideLayout2.xml" Id="R33b474430e414a8e" /><Relationship Type="http://schemas.openxmlformats.org/officeDocument/2006/relationships/slideLayout" Target="/ppt/slideLayouts/slideLayout3.xml" Id="R7a8153e14db04aa9" /><Relationship Type="http://schemas.openxmlformats.org/officeDocument/2006/relationships/slideLayout" Target="/ppt/slideLayouts/slideLayout4.xml" Id="R85d3f0b3a4294c49" /><Relationship Type="http://schemas.openxmlformats.org/officeDocument/2006/relationships/slideLayout" Target="/ppt/slideLayouts/slideLayout5.xml" Id="R717684e0740c4eb0" /><Relationship Type="http://schemas.openxmlformats.org/officeDocument/2006/relationships/slideLayout" Target="/ppt/slideLayouts/slideLayout6.xml" Id="R2df7834d4b8b40bb" /><Relationship Type="http://schemas.openxmlformats.org/officeDocument/2006/relationships/slideLayout" Target="/ppt/slideLayouts/slideLayout7.xml" Id="Rea694e324328419c" /><Relationship Type="http://schemas.openxmlformats.org/officeDocument/2006/relationships/slideLayout" Target="/ppt/slideLayouts/slideLayout8.xml" Id="Rafa6bab7493b4291" /><Relationship Type="http://schemas.openxmlformats.org/officeDocument/2006/relationships/slideLayout" Target="/ppt/slideLayouts/slideLayout9.xml" Id="Rf654991081874c2b" /><Relationship Type="http://schemas.openxmlformats.org/officeDocument/2006/relationships/slideLayout" Target="/ppt/slideLayouts/slideLayout10.xml" Id="R67a2d578de714c95" /><Relationship Type="http://schemas.openxmlformats.org/officeDocument/2006/relationships/slideLayout" Target="/ppt/slideLayouts/slideLayout11.xml" Id="R6d635b10dfcf4376" /><Relationship Type="http://schemas.openxmlformats.org/officeDocument/2006/relationships/slideLayout" Target="/ppt/slideLayouts/slideLayout12.xml" Id="Rf49e1d5f423544a4" /><Relationship Type="http://schemas.openxmlformats.org/officeDocument/2006/relationships/slideLayout" Target="/ppt/slideLayouts/slideLayout13.xml" Id="R33c85d587ea04c8b" /><Relationship Type="http://schemas.openxmlformats.org/officeDocument/2006/relationships/slideLayout" Target="/ppt/slideLayouts/slideLayout14.xml" Id="R1fc5d88d510f4617" /><Relationship Type="http://schemas.openxmlformats.org/officeDocument/2006/relationships/slideLayout" Target="/ppt/slideLayouts/slideLayout15.xml" Id="Raeff6842ddb54d06" /><Relationship Type="http://schemas.openxmlformats.org/officeDocument/2006/relationships/slideLayout" Target="/ppt/slideLayouts/slideLayout16.xml" Id="Rd3eeda7b77a34ff3" /><Relationship Type="http://schemas.openxmlformats.org/officeDocument/2006/relationships/slideLayout" Target="/ppt/slideLayouts/slideLayout17.xml" Id="R6142c505477040a7" /><Relationship Type="http://schemas.openxmlformats.org/officeDocument/2006/relationships/slideLayout" Target="/ppt/slideLayouts/slideLayout18.xml" Id="Rad1fbed4053944df" /><Relationship Type="http://schemas.openxmlformats.org/officeDocument/2006/relationships/slideLayout" Target="/ppt/slideLayouts/slideLayout19.xml" Id="Rec48047873cb4e5e" /><Relationship Type="http://schemas.openxmlformats.org/officeDocument/2006/relationships/slideLayout" Target="/ppt/slideLayouts/slideLayout20.xml" Id="Raf25a89b80294884" /><Relationship Type="http://schemas.openxmlformats.org/officeDocument/2006/relationships/slideLayout" Target="/ppt/slideLayouts/slideLayout21.xml" Id="R55480f2129024a65" /><Relationship Type="http://schemas.openxmlformats.org/officeDocument/2006/relationships/slideLayout" Target="/ppt/slideLayouts/slideLayout22.xml" Id="R5eee299ef62b4443" /><Relationship Type="http://schemas.openxmlformats.org/officeDocument/2006/relationships/slideLayout" Target="/ppt/slideLayouts/slideLayout23.xml" Id="R8c8c1cebc95d44e1" /><Relationship Type="http://schemas.openxmlformats.org/officeDocument/2006/relationships/slideLayout" Target="/ppt/slideLayouts/slideLayout24.xml" Id="R0864d4e1235c48da" /><Relationship Type="http://schemas.openxmlformats.org/officeDocument/2006/relationships/slideLayout" Target="/ppt/slideLayouts/slideLayout25.xml" Id="R8c01ffc0230949ee" /><Relationship Type="http://schemas.openxmlformats.org/officeDocument/2006/relationships/slideLayout" Target="/ppt/slideLayouts/slideLayout26.xml" Id="R24748d25c5ef4b56" /><Relationship Type="http://schemas.openxmlformats.org/officeDocument/2006/relationships/slideLayout" Target="/ppt/slideLayouts/slideLayout27.xml" Id="R2e7d806d859a44d1" /><Relationship Type="http://schemas.openxmlformats.org/officeDocument/2006/relationships/slideLayout" Target="/ppt/slideLayouts/slideLayout28.xml" Id="Re859f8383ba34762" /><Relationship Type="http://schemas.openxmlformats.org/officeDocument/2006/relationships/slideLayout" Target="/ppt/slideLayouts/slideLayout29.xml" Id="R106ead16ee694fe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6360" y="476722"/>
            <a:ext cx="10573597" cy="768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6361" y="1645670"/>
            <a:ext cx="11119283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53CCB-6D68-7E4F-88D7-3EF0427B1B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A9E4AF24-435A-324D-AE4F-BC2934A4F18C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e55b2db762427e"/>
    <p:sldLayoutId xmlns:r="http://schemas.openxmlformats.org/officeDocument/2006/relationships" id="2147483650" r:id="R33b474430e414a8e"/>
    <p:sldLayoutId xmlns:r="http://schemas.openxmlformats.org/officeDocument/2006/relationships" id="2147483651" r:id="R7a8153e14db04aa9"/>
    <p:sldLayoutId xmlns:r="http://schemas.openxmlformats.org/officeDocument/2006/relationships" id="2147483652" r:id="R85d3f0b3a4294c49"/>
    <p:sldLayoutId xmlns:r="http://schemas.openxmlformats.org/officeDocument/2006/relationships" id="2147483653" r:id="R717684e0740c4eb0"/>
    <p:sldLayoutId xmlns:r="http://schemas.openxmlformats.org/officeDocument/2006/relationships" id="2147483654" r:id="R2df7834d4b8b40bb"/>
    <p:sldLayoutId xmlns:r="http://schemas.openxmlformats.org/officeDocument/2006/relationships" id="2147483655" r:id="Rea694e324328419c"/>
    <p:sldLayoutId xmlns:r="http://schemas.openxmlformats.org/officeDocument/2006/relationships" id="2147483656" r:id="Rafa6bab7493b4291"/>
    <p:sldLayoutId xmlns:r="http://schemas.openxmlformats.org/officeDocument/2006/relationships" id="2147483657" r:id="Rf654991081874c2b"/>
    <p:sldLayoutId xmlns:r="http://schemas.openxmlformats.org/officeDocument/2006/relationships" id="2147483658" r:id="R67a2d578de714c95"/>
    <p:sldLayoutId xmlns:r="http://schemas.openxmlformats.org/officeDocument/2006/relationships" id="2147483659" r:id="R6d635b10dfcf4376"/>
    <p:sldLayoutId xmlns:r="http://schemas.openxmlformats.org/officeDocument/2006/relationships" id="2147483660" r:id="Rf49e1d5f423544a4"/>
    <p:sldLayoutId xmlns:r="http://schemas.openxmlformats.org/officeDocument/2006/relationships" id="2147483661" r:id="R33c85d587ea04c8b"/>
    <p:sldLayoutId xmlns:r="http://schemas.openxmlformats.org/officeDocument/2006/relationships" id="2147483662" r:id="R1fc5d88d510f4617"/>
    <p:sldLayoutId xmlns:r="http://schemas.openxmlformats.org/officeDocument/2006/relationships" id="2147483663" r:id="Raeff6842ddb54d06"/>
    <p:sldLayoutId xmlns:r="http://schemas.openxmlformats.org/officeDocument/2006/relationships" id="2147483664" r:id="Rd3eeda7b77a34ff3"/>
    <p:sldLayoutId xmlns:r="http://schemas.openxmlformats.org/officeDocument/2006/relationships" id="2147483665" r:id="R6142c505477040a7"/>
    <p:sldLayoutId xmlns:r="http://schemas.openxmlformats.org/officeDocument/2006/relationships" id="2147483666" r:id="Rad1fbed4053944df"/>
    <p:sldLayoutId xmlns:r="http://schemas.openxmlformats.org/officeDocument/2006/relationships" id="2147483667" r:id="Rec48047873cb4e5e"/>
    <p:sldLayoutId xmlns:r="http://schemas.openxmlformats.org/officeDocument/2006/relationships" id="2147483668" r:id="Raf25a89b80294884"/>
    <p:sldLayoutId xmlns:r="http://schemas.openxmlformats.org/officeDocument/2006/relationships" id="2147483669" r:id="R55480f2129024a65"/>
    <p:sldLayoutId xmlns:r="http://schemas.openxmlformats.org/officeDocument/2006/relationships" id="2147483670" r:id="R5eee299ef62b4443"/>
    <p:sldLayoutId xmlns:r="http://schemas.openxmlformats.org/officeDocument/2006/relationships" id="2147483671" r:id="R8c8c1cebc95d44e1"/>
    <p:sldLayoutId xmlns:r="http://schemas.openxmlformats.org/officeDocument/2006/relationships" id="2147483672" r:id="R0864d4e1235c48da"/>
    <p:sldLayoutId xmlns:r="http://schemas.openxmlformats.org/officeDocument/2006/relationships" id="2147483673" r:id="R8c01ffc0230949ee"/>
    <p:sldLayoutId xmlns:r="http://schemas.openxmlformats.org/officeDocument/2006/relationships" id="2147483674" r:id="R24748d25c5ef4b56"/>
    <p:sldLayoutId xmlns:r="http://schemas.openxmlformats.org/officeDocument/2006/relationships" id="2147483675" r:id="R2e7d806d859a44d1"/>
    <p:sldLayoutId xmlns:r="http://schemas.openxmlformats.org/officeDocument/2006/relationships" id="2147483676" r:id="Re859f8383ba34762"/>
    <p:sldLayoutId xmlns:r="http://schemas.openxmlformats.org/officeDocument/2006/relationships" id="2147483677" r:id="R106ead16ee694fe7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600" b="0" i="0">
          <a:solidFill>
            <a:schemeClr val="accent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589" indent="-228589" algn="l">
        <a:lnSpc>
          <a:spcPct val="90000"/>
        </a:lnSpc>
        <a:spcBef>
          <a:spcPts val="1000"/>
        </a:spcBef>
        <a:buChar char="•"/>
        <a:defRPr sz="2400" b="0" i="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766" indent="-228589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2942" indent="-228589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120" indent="-228589" algn="l">
        <a:lnSpc>
          <a:spcPct val="90000"/>
        </a:lnSpc>
        <a:spcBef>
          <a:spcPts val="500"/>
        </a:spcBef>
        <a:buChar char="•"/>
        <a:defRPr sz="1600" b="0" i="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298" indent="-228589" algn="l">
        <a:lnSpc>
          <a:spcPct val="90000"/>
        </a:lnSpc>
        <a:spcBef>
          <a:spcPts val="500"/>
        </a:spcBef>
        <a:buChar char="•"/>
        <a:defRPr sz="1600" b="0" i="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474" indent="-228589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652" indent="-228589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829" indent="-228589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006" indent="-228589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7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5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09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886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06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24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41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UAB Brand 2024 Upd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A5632"/>
      </a:accent1>
      <a:accent2>
        <a:srgbClr val="FDB913"/>
      </a:accent2>
      <a:accent3>
        <a:srgbClr val="033319"/>
      </a:accent3>
      <a:accent4>
        <a:srgbClr val="90D308"/>
      </a:accent4>
      <a:accent5>
        <a:srgbClr val="17B045"/>
      </a:accent5>
      <a:accent6>
        <a:srgbClr val="41CAF0"/>
      </a:accent6>
      <a:hlink>
        <a:srgbClr val="1A5632"/>
      </a:hlink>
      <a:folHlink>
        <a:srgbClr val="90D30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AB Brand 2024 Updat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e0ecf32d71453f" /><Relationship Type="http://schemas.openxmlformats.org/officeDocument/2006/relationships/image" Target="/ppt/media/image7.png" Id="R6a0746e4870d4541" /><Relationship Type="http://schemas.openxmlformats.org/officeDocument/2006/relationships/image" Target="/ppt/media/image8.png" Id="Rad5986011b9c400c" /><Relationship Type="http://schemas.openxmlformats.org/officeDocument/2006/relationships/notesSlide" Target="/ppt/notesSlides/notesSlide1.xml" Id="R30a68b5b5ecd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cb7502387a4dc2" /><Relationship Type="http://schemas.openxmlformats.org/officeDocument/2006/relationships/image" Target="/ppt/media/image9.png" Id="R69d863ae62dc4767" /><Relationship Type="http://schemas.openxmlformats.org/officeDocument/2006/relationships/notesSlide" Target="/ppt/notesSlides/notesSlide2.xml" Id="Rb733b0f954ac4f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dc1fb804514e48" /><Relationship Type="http://schemas.openxmlformats.org/officeDocument/2006/relationships/image" Target="/ppt/media/image10.png" Id="Re2cc2920b0d84204" /><Relationship Type="http://schemas.openxmlformats.org/officeDocument/2006/relationships/notesSlide" Target="/ppt/notesSlides/notesSlide3.xml" Id="Rd66008c9c535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786b2df1614af1" /><Relationship Type="http://schemas.openxmlformats.org/officeDocument/2006/relationships/image" Target="/ppt/media/image11.png" Id="Rfcdd7dcfbf1c421b" /><Relationship Type="http://schemas.openxmlformats.org/officeDocument/2006/relationships/image" Target="/ppt/media/image12.png" Id="Ra0263fc80fa249b2" /><Relationship Type="http://schemas.openxmlformats.org/officeDocument/2006/relationships/notesSlide" Target="/ppt/notesSlides/notesSlide4.xml" Id="R4a13a909514e48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e2f8c39acd844bd" /><Relationship Type="http://schemas.openxmlformats.org/officeDocument/2006/relationships/image" Target="/ppt/media/image13.png" Id="Rf0296eeffb3243ee" /><Relationship Type="http://schemas.openxmlformats.org/officeDocument/2006/relationships/notesSlide" Target="/ppt/notesSlides/notesSlide5.xml" Id="R29a73c85fc254f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61d4293cd544b49" /><Relationship Type="http://schemas.openxmlformats.org/officeDocument/2006/relationships/image" Target="/ppt/media/image14.png" Id="Ra861a7f011df44a0" /><Relationship Type="http://schemas.openxmlformats.org/officeDocument/2006/relationships/notesSlide" Target="/ppt/notesSlides/notesSlide6.xml" Id="R51dfae28620940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9d2c75e90174e63" /><Relationship Type="http://schemas.openxmlformats.org/officeDocument/2006/relationships/image" Target="/ppt/media/image2.jpeg" Id="Re400f563c7ff4550" /><Relationship Type="http://schemas.openxmlformats.org/officeDocument/2006/relationships/notesSlide" Target="/ppt/notesSlides/notesSlide7.xml" Id="R03de9ef2ab9346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c2ec42c45b4144" /><Relationship Type="http://schemas.openxmlformats.org/officeDocument/2006/relationships/image" Target="/ppt/media/image2.jpeg" Id="Rb33f4202e40648f1" /><Relationship Type="http://schemas.openxmlformats.org/officeDocument/2006/relationships/notesSlide" Target="/ppt/notesSlides/notesSlide8.xml" Id="R5a8ad49e111948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2a84df35f6477c" /><Relationship Type="http://schemas.openxmlformats.org/officeDocument/2006/relationships/image" Target="/ppt/media/image2.jpeg" Id="Rfab61a29d6ec4b34" /><Relationship Type="http://schemas.openxmlformats.org/officeDocument/2006/relationships/notesSlide" Target="/ppt/notesSlides/notesSlide9.xml" Id="R9d91155f200d44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0744671fa34429f" /><Relationship Type="http://schemas.openxmlformats.org/officeDocument/2006/relationships/image" Target="/ppt/media/image3.jpeg" Id="Rbc19b2226b804ce4" /><Relationship Type="http://schemas.openxmlformats.org/officeDocument/2006/relationships/notesSlide" Target="/ppt/notesSlides/notesSlide10.xml" Id="R401fee6afca244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508d4ec97a5498b" /><Relationship Type="http://schemas.openxmlformats.org/officeDocument/2006/relationships/image" Target="/ppt/media/image4.jpeg" Id="R65d2cc780ea947f2" /><Relationship Type="http://schemas.openxmlformats.org/officeDocument/2006/relationships/notesSlide" Target="/ppt/notesSlides/notesSlide11.xml" Id="Rfb6dd055d7c64f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b9384c66f2d401b" /><Relationship Type="http://schemas.openxmlformats.org/officeDocument/2006/relationships/image" Target="/ppt/media/image5.jpeg" Id="R94d449ba580442c1" /><Relationship Type="http://schemas.openxmlformats.org/officeDocument/2006/relationships/notesSlide" Target="/ppt/notesSlides/notesSlide12.xml" Id="R70538445bc0540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9b5740def094fd4" /><Relationship Type="http://schemas.openxmlformats.org/officeDocument/2006/relationships/notesSlide" Target="/ppt/notesSlides/notesSlide13.xml" Id="R8cc639176dec4b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37230b279334b3b" /><Relationship Type="http://schemas.openxmlformats.org/officeDocument/2006/relationships/image" Target="/ppt/media/image15.png" Id="R98521e1852d745fc" /><Relationship Type="http://schemas.openxmlformats.org/officeDocument/2006/relationships/notesSlide" Target="/ppt/notesSlides/notesSlide14.xml" Id="Rae6cc0d61f8049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0b38a6dc20a4913" /><Relationship Type="http://schemas.openxmlformats.org/officeDocument/2006/relationships/image" Target="/ppt/media/image16.png" Id="Rb0eae90ea28d4640" /><Relationship Type="http://schemas.openxmlformats.org/officeDocument/2006/relationships/notesSlide" Target="/ppt/notesSlides/notesSlide15.xml" Id="R6b1014d356f042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7b4170ac4a84ace" /><Relationship Type="http://schemas.openxmlformats.org/officeDocument/2006/relationships/image" Target="/ppt/media/image17.png" Id="R694ecf444ac74b13" /><Relationship Type="http://schemas.openxmlformats.org/officeDocument/2006/relationships/notesSlide" Target="/ppt/notesSlides/notesSlide16.xml" Id="R328e447ef5e74d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a583b23850f4e91" /><Relationship Type="http://schemas.openxmlformats.org/officeDocument/2006/relationships/image" Target="/ppt/media/image18.png" Id="R4316ff76f8e24b95" /><Relationship Type="http://schemas.openxmlformats.org/officeDocument/2006/relationships/notesSlide" Target="/ppt/notesSlides/notesSlide17.xml" Id="Rab968949bff24f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094a3d8c1b44591" /><Relationship Type="http://schemas.openxmlformats.org/officeDocument/2006/relationships/image" Target="/ppt/media/image19.png" Id="Rd200cd2a18194b03" /><Relationship Type="http://schemas.openxmlformats.org/officeDocument/2006/relationships/notesSlide" Target="/ppt/notesSlides/notesSlide18.xml" Id="R0b101a365e8f43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fa97795cb754a52" /><Relationship Type="http://schemas.openxmlformats.org/officeDocument/2006/relationships/notesSlide" Target="/ppt/notesSlides/notesSlide19.xml" Id="R791e8d13815b41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07c8d8e45c24cd5" /><Relationship Type="http://schemas.openxmlformats.org/officeDocument/2006/relationships/notesSlide" Target="/ppt/notesSlides/notesSlide20.xml" Id="R5d1fe5a1f1fe4ba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4392e95bf054587" /><Relationship Type="http://schemas.openxmlformats.org/officeDocument/2006/relationships/image" Target="/ppt/media/image20.png" Id="Rb74d369ae8954e05" /><Relationship Type="http://schemas.openxmlformats.org/officeDocument/2006/relationships/notesSlide" Target="/ppt/notesSlides/notesSlide21.xml" Id="Rbdd20de2b8b942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e774eb1f4f540e6" /><Relationship Type="http://schemas.openxmlformats.org/officeDocument/2006/relationships/image" Target="/ppt/media/image21.png" Id="Rfbeb2ed6fddd4dfa" /><Relationship Type="http://schemas.openxmlformats.org/officeDocument/2006/relationships/notesSlide" Target="/ppt/notesSlides/notesSlide22.xml" Id="R4b27e2766a2044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ec7273da6421b" /><Relationship Type="http://schemas.openxmlformats.org/officeDocument/2006/relationships/image" Target="/ppt/media/image6.jpeg" Id="Ra6cb1f081dc54457" /><Relationship Type="http://schemas.openxmlformats.org/officeDocument/2006/relationships/notesSlide" Target="/ppt/notesSlides/notesSlide23.xml" Id="Rff5f25e479df4f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BCC7BC29-5BA1-8E75-1DC3-926CBEDF20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2000" y="4985885"/>
            <a:ext cx="9615376" cy="10261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Arash </a:t>
            </a:r>
            <a:r>
              <a:t>Bagherabadi</a:t>
            </a:r>
          </a:p>
          <a:p xmlns:a="http://schemas.openxmlformats.org/drawingml/2006/main">
            <a:r>
              <a:t>June 8, 2026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954EF87-A587-D068-B5A6-48B80046D22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0" y="1876586"/>
            <a:ext cx="11167730" cy="173848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4800"/>
              <a:t>scTalk</a:t>
            </a:r>
            <a:r>
              <a:rPr sz="4800"/>
              <a:t> 6: One Dataset, Two Stories</a:t>
            </a:r>
          </a:p>
        </p:txBody>
      </p:sp>
      <p:pic>
        <p:nvPicPr>
          <p:cNvPr id="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746e4870d45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8884" y="621659"/>
            <a:ext cx="2331136" cy="1061091"/>
          </a:xfrm>
          <a:prstGeom xmlns:a="http://schemas.openxmlformats.org/drawingml/2006/main" prst="rect">
            <a:avLst/>
          </a:prstGeom>
        </p:spPr>
      </p:pic>
      <p:pic>
        <p:nvPicPr>
          <p:cNvPr id="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986011b9c40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8783" y="2810216"/>
            <a:ext cx="4351338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770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DF80DF1A-1594-2EEE-1810-A7AB42976D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12487" y="1916010"/>
            <a:ext cx="4995760" cy="41604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Single-cell Journal Club Series</a:t>
            </a:r>
          </a:p>
          <a:p xmlns:a="http://schemas.openxmlformats.org/drawingml/2006/main">
            <a:r>
              <a:t>Break down key/new papers</a:t>
            </a:r>
          </a:p>
          <a:p xmlns:a="http://schemas.openxmlformats.org/drawingml/2006/main">
            <a:r>
              <a:t>Shared standards and critical thinking in analysis</a:t>
            </a:r>
          </a:p>
          <a:p xmlns:a="http://schemas.openxmlformats.org/drawingml/2006/main">
            <a:r>
              <a:t>Open questions, interruptions, and debate encouraged</a:t>
            </a:r>
          </a:p>
        </p:txBody>
      </p:sp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50F914A2-3A10-F736-6DE8-9F8A01367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487" y="499245"/>
            <a:ext cx="3408639" cy="7685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rPr sz="4800"/>
              <a:t>scTalk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FAE87F7-3329-D684-865D-22E9ED8952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2</a:t>
            </a:fld>
          </a:p>
        </p:txBody>
      </p:sp>
      <p:pic>
        <p:nvPicPr>
          <p:cNvPr id="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863ae62dc4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1686" y="1245267"/>
            <a:ext cx="3801139" cy="3801139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860A90-8441-90A5-2BA0-EEEA857A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684" y="5245438"/>
            <a:ext cx="393893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7417E"/>
                </a:solidFill>
              </a:rPr>
              <a:t>Please Sign-in + Comments &amp; Questions</a:t>
            </a:r>
          </a:p>
        </p:txBody>
      </p:sp>
    </p:spTree>
    <p:extLst>
      <p:ext uri="{BB962C8B-B14F-4D97-AF65-F5344CB8AC3E}">
        <p14:creationId xmlns:p14="http://schemas.microsoft.com/office/powerpoint/2010/main" val="35716399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5F2F76C-6C2C-391A-E6A4-F9421DDDA63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3</a:t>
            </a:fld>
          </a:p>
        </p:txBody>
      </p:sp>
      <p:pic>
        <p:nvPicPr>
          <p:cNvPr id="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c2920b0d8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585" y="1640516"/>
            <a:ext cx="10657719" cy="3576967"/>
          </a:xfrm>
          <a:prstGeom xmlns:a="http://schemas.openxmlformats.org/drawingml/2006/main" prst="rect">
            <a:avLst/>
          </a:prstGeom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77B17EB-AA6D-3FF6-A7D3-6C1B5D4F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686" y="3428999"/>
            <a:ext cx="1360715" cy="28161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5311787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6F01FE1-CB8C-E5D5-55D5-27262DEC7F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4</a:t>
            </a:fld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d7dcfbf1c42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7088" y="486284"/>
            <a:ext cx="10334846" cy="5412304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1309EBC-0D05-AAAA-C913-8AE43DA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597" y="1215898"/>
            <a:ext cx="168260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2E2E2E"/>
                </a:solidFill>
                <a:latin typeface="Helvetica"/>
                <a:ea typeface="Helvetica"/>
                <a:cs typeface="Helvetica"/>
              </a:rPr>
              <a:t>April 15, 2026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9632FDB-AE88-1689-C6A2-DFF341A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597" y="1124270"/>
            <a:ext cx="1633617" cy="46096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63fc80fa249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8069" y="4553367"/>
            <a:ext cx="3657600" cy="18183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329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 13">
            <a:extLst xmlns:a="http://schemas.openxmlformats.org/drawingml/2006/main">
              <a:ext uri="{FF2B5EF4-FFF2-40B4-BE49-F238E27FC236}">
                <a16:creationId xmlns:a16="http://schemas.microsoft.com/office/drawing/2014/main" id="{73C857AA-A440-30D9-344D-C8E4C8E9E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6364" y="177662"/>
            <a:ext cx="10636465" cy="152354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/>
              <a:t>Comparison of effect size:</a:t>
            </a:r>
            <a:r>
              <a:rPr sz="2400" b="0"/>
              <a:t> If you ignore the differences between Seurat and </a:t>
            </a:r>
            <a:r>
              <a:rPr sz="2400" b="0"/>
              <a:t>Scanpy</a:t>
            </a:r>
            <a:r>
              <a:rPr sz="2400" b="0"/>
              <a:t>, you are effectively ignoring a source of variation whose magnitude is comparable to removing a large fraction of your data!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F9CEAFE-A553-3281-ACAD-24F996EE936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5</a:t>
            </a:fld>
          </a:p>
        </p:txBody>
      </p:sp>
      <p:pic>
        <p:nvPicPr>
          <p:cNvPr id="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96eeffb3243ee"/>
          <a:srcRect xmlns:a="http://schemas.openxmlformats.org/drawingml/2006/main" l="0" t="19851" r="0" b="217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74" y="1959626"/>
            <a:ext cx="11796051" cy="3874029"/>
          </a:xfrm>
          <a:prstGeom xmlns:a="http://schemas.openxmlformats.org/drawingml/2006/main" prst="rect">
            <a:avLst/>
          </a:prstGeom>
        </p:spPr>
      </p:pic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051B4FA-C34D-D8B5-2007-E42E05B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64" y="1850065"/>
            <a:ext cx="452464" cy="5954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92BA325-29C7-719C-3A5B-E95D47B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164" y="1850064"/>
            <a:ext cx="452464" cy="5954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00C75BB-1AAA-2D1F-F929-8297BBF2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24" y="1850064"/>
            <a:ext cx="668660" cy="52099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5064576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0E57BB8-2BF8-7B0F-3267-B9427765812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6</a:t>
            </a:fld>
          </a:p>
        </p:txBody>
      </p:sp>
      <p:pic>
        <p:nvPicPr>
          <p:cNvPr id="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1a7f011df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242" y="95693"/>
            <a:ext cx="11097302" cy="62389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811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3299D46-6DC4-3573-2953-8F0BAC820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Fig1.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55A17AC-0A65-9D9A-D9BA-94846E463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7</a:t>
            </a:fld>
          </a:p>
        </p:txBody>
      </p:sp>
      <p:pic>
        <p:nvPicPr>
          <p:cNvPr id="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0f563c7ff4550"/>
          <a:srcRect xmlns:a="http://schemas.openxmlformats.org/drawingml/2006/main" l="0" t="0" r="0" b="66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8829" y="1717158"/>
            <a:ext cx="10074341" cy="34236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343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EB1D4D-B2A7-6C97-DE89-88070B41D0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8</a:t>
            </a:fld>
          </a:p>
        </p:txBody>
      </p:sp>
      <p:pic>
        <p:nvPicPr>
          <p:cNvPr id="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f4202e40648f1"/>
          <a:srcRect xmlns:a="http://schemas.openxmlformats.org/drawingml/2006/main" l="0" t="33898" r="0" b="33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965" y="1658679"/>
            <a:ext cx="10616070" cy="3540642"/>
          </a:xfrm>
          <a:prstGeom xmlns:a="http://schemas.openxmlformats.org/drawingml/2006/main" prst="rect">
            <a:avLst/>
          </a:prstGeom>
        </p:spPr>
      </p:pic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511AB9A4-3625-117F-9AB9-7897C3B5D2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6364" y="476722"/>
            <a:ext cx="10636465" cy="7685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Fig1. </a:t>
            </a:r>
          </a:p>
        </p:txBody>
      </p:sp>
    </p:spTree>
    <p:extLst>
      <p:ext uri="{BB962C8B-B14F-4D97-AF65-F5344CB8AC3E}">
        <p14:creationId xmlns:p14="http://schemas.microsoft.com/office/powerpoint/2010/main" val="39599149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9DAA513-EC8E-B8E5-328D-C83BCC721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70781" y="570009"/>
            <a:ext cx="304131" cy="36512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9</a:t>
            </a:fld>
          </a:p>
        </p:txBody>
      </p:sp>
      <p:pic>
        <p:nvPicPr>
          <p:cNvPr id="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61a29d6ec4b34"/>
          <a:srcRect xmlns:a="http://schemas.openxmlformats.org/drawingml/2006/main" l="0" t="6735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135" y="1624307"/>
            <a:ext cx="10853730" cy="3609385"/>
          </a:xfrm>
          <a:prstGeom xmlns:a="http://schemas.openxmlformats.org/drawingml/2006/main" prst="rect">
            <a:avLst/>
          </a:prstGeom>
        </p:spPr>
      </p:pic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5E6015B-6A89-C294-FD09-F3656ADA0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6364" y="476722"/>
            <a:ext cx="10636465" cy="7685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Fig1. </a:t>
            </a:r>
          </a:p>
        </p:txBody>
      </p:sp>
    </p:spTree>
    <p:extLst>
      <p:ext uri="{BB962C8B-B14F-4D97-AF65-F5344CB8AC3E}">
        <p14:creationId xmlns:p14="http://schemas.microsoft.com/office/powerpoint/2010/main" val="17693670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577B1A80-CF68-FC6A-B153-56FEC41AC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Fig2.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F9B452B-73F9-56FA-FC1A-141157D0B83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10</a:t>
            </a:fld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9b2226b804c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364" y="1892595"/>
            <a:ext cx="10906155" cy="34476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471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2B008CD5-32BF-6EC0-194B-56E789948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Fig3.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7128D0-526C-00A1-0595-B9EFFFF82A6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11</a:t>
            </a:fld>
          </a:p>
        </p:txBody>
      </p:sp>
      <p:pic>
        <p:nvPicPr>
          <p:cNvPr id="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2cc780ea947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4938" y="0"/>
            <a:ext cx="6462123" cy="63152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48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310D870-B31A-E1B0-A9A3-6E57B6160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Fig4.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45EBB32-4077-80A5-E88D-85A072E141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12</a:t>
            </a:fld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449ba580442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6033" y="935134"/>
            <a:ext cx="9253893" cy="53226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899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BB6C9-9898-F9D8-3694-47C8515340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you. Questions?</a:t>
            </a:r>
          </a:p>
        </p:txBody>
      </p:sp>
    </p:spTree>
    <p:extLst>
      <p:ext uri="{BB962C8B-B14F-4D97-AF65-F5344CB8AC3E}">
        <p14:creationId xmlns:p14="http://schemas.microsoft.com/office/powerpoint/2010/main" val="2771572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F68E485-AF01-2537-0560-7CE5F5F75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FigS1.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D687BD-5B9B-3E44-24E4-E16D392BFA2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14</a:t>
            </a:fld>
          </a:p>
        </p:txBody>
      </p:sp>
      <p:pic>
        <p:nvPicPr>
          <p:cNvPr id="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21e1852d745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7733" y="1103299"/>
            <a:ext cx="9160803" cy="51360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403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BEAA27C-D7CC-5515-1BE2-FE41DF68B5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FigS2.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714B574-8485-DF8B-ED46-0B9C875FE67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15</a:t>
            </a:fld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ae90ea28d46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5711" y="191673"/>
            <a:ext cx="6460578" cy="61896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80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E4B54E37-4FD0-F4A7-BDE7-73A2505672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FigS3.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91A4545-AC97-2850-47F3-3AE4B9B8B4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16</a:t>
            </a:fld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ecf444ac74b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6353" y="0"/>
            <a:ext cx="4679293" cy="63267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209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E7AE085C-51A5-CBC4-4E01-80A95B34B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FigS4.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D0422F9-DBD1-42A9-59C0-228244126E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17</a:t>
            </a:fld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6ff76f8e24b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6138" y="40734"/>
            <a:ext cx="4799724" cy="6340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317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336F2F3B-1A7D-7433-608E-B9B209861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FigS5.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72E9F8F-E1C1-720E-89D3-541F01F186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18</a:t>
            </a:fld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0cd2a18194b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1758" y="36815"/>
            <a:ext cx="5000297" cy="63444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4782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5F09D74-42FC-C448-E450-877FD2C6B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FigS2.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D3573D1-2BFA-0361-6851-1C627FF441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1841778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0226DF4-A90B-F6CD-9530-DE8978988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FigS2.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E0B19B-C02C-51B5-9000-C4DF6052161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41846984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F17C200-31F4-A01C-C828-E0D8588F92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21</a:t>
            </a:fld>
          </a:p>
        </p:txBody>
      </p:sp>
      <p:pic>
        <p:nvPicPr>
          <p:cNvPr id="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d369ae8954e05"/>
          <a:srcRect xmlns:a="http://schemas.openxmlformats.org/drawingml/2006/main" l="0" t="12025" r="0" b="93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38" y="935134"/>
            <a:ext cx="12116923" cy="53528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6376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AD10A9-1856-E8D1-A01C-AC67E800CF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4797FC3-DC33-DA47-95F6-F7EB925D69E8}" type="slidenum">
              <a:t>22</a:t>
            </a:fld>
          </a:p>
        </p:txBody>
      </p:sp>
      <p:pic>
        <p:nvPicPr>
          <p:cNvPr id="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b2ed6fddd4dfa"/>
          <a:srcRect xmlns:a="http://schemas.openxmlformats.org/drawingml/2006/main" l="0" t="-654" r="57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84083"/>
            <a:ext cx="12309427" cy="69420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9465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b1f081dc54457"/>
          <a:stretch xmlns:a="http://schemas.openxmlformats.org/drawingml/2006/main"/>
        </p:blipFill>
        <p:spPr>
          <a:xfrm xmlns:a="http://schemas.openxmlformats.org/drawingml/2006/main">
            <a:off x="0" y="0"/>
            <a:ext cx="2857500" cy="190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22230"/>
      </p:ext>
    </p:extLst>
  </p:cSld>
</p:sld>
</file>

<file path=ppt/theme/theme1.xml><?xml version="1.0" encoding="utf-8"?>
<a:theme xmlns:a="http://schemas.openxmlformats.org/drawingml/2006/main" name="Office Theme">
  <a:themeElements>
    <a:clrScheme name="UAB Brand 2024 Upd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A5632"/>
      </a:accent1>
      <a:accent2>
        <a:srgbClr val="FDB913"/>
      </a:accent2>
      <a:accent3>
        <a:srgbClr val="033319"/>
      </a:accent3>
      <a:accent4>
        <a:srgbClr val="90D308"/>
      </a:accent4>
      <a:accent5>
        <a:srgbClr val="17B045"/>
      </a:accent5>
      <a:accent6>
        <a:srgbClr val="41CAF0"/>
      </a:accent6>
      <a:hlink>
        <a:srgbClr val="1A5632"/>
      </a:hlink>
      <a:folHlink>
        <a:srgbClr val="90D30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AB Brand 2024 Updat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2026-06-09T08:42:24.4250000Z</dcterms:created>
  <dcterms:modified xsi:type="dcterms:W3CDTF">2026-06-09T08:42:24.4250000Z</dcterms:modified>
</coreProperties>
</file>